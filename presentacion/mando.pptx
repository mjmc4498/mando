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06db4df0-0b89-3d8a-8a21-2f684eb23efb}">
          <p14:sldIdLst>
            <p14:sldId id="256"/>
            <p14:sldId id="257"/>
            <p14:sldId id="258"/>
            <p14:sldId id="259"/>
          </p14:sldIdLst>
        </p14:section>
        <p14:section name="Funciones" id="{c196b939-49c5-fca3-f3e2-cad589d2b8c8}">
          <p14:sldIdLst>
            <p14:sldId id="260"/>
            <p14:sldId id="261"/>
            <p14:sldId id="262"/>
          </p14:sldIdLst>
        </p14:section>
        <p14:section name="Valor" id="{552fc145-2c25-bfea-19c9-1c515cfce813}">
          <p14:sldIdLst>
            <p14:sldId id="263"/>
            <p14:sldId id="264"/>
          </p14:sldIdLst>
        </p14:section>
        <p14:section name="Tecnología" id="{dcec37d4-004a-6025-fbc3-056e0e3a43af}">
          <p14:sldIdLst>
            <p14:sldId id="265"/>
            <p14:sldId id="266"/>
            <p14:sldId id="267"/>
          </p14:sldIdLst>
        </p14:section>
        <p14:section name="Cierre" id="{c957a61e-37c1-aac5-90f1-28f1f74aab92}">
          <p14:sldIdLst>
            <p14:sldId id="268"/>
            <p14:sldId id="269"/>
            <p14:sldId id="270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Mando es una extensión de Chrome que convierte el celular en el control remoto de cualquier presentación: avanzar diapositivas, puntero láser, lápiz, mouse y teclado. Se conecta escaneando un código QR, sin instalar apps.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Hoy, para cambiar de diapositiva hay que volver a la computadora o comprar un control físico. Los punteros láser físicos casi no se ven en televisores o pantallas LED, y hacer clic o escribir algo obliga a interrumpir la charla.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extensión muestra un código QR. Al escanearlo, el celular abre el control en su navegador: no hay que instalar ninguna app ni crear cuentas. La conexión es directa y cifrada entre el celular y la computadora.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Paso 1: abrir la presentación en Chrome. Paso 2: hacer clic en el ícono de Mando o pulsar Alt+Shift+M y escanear el QR con la cámara. Paso 3: presentar desde el celular. Por seguridad, cada sesión genera un código QR nuevo.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pantalla principal tiene un botón grande para avanzar, pensado para usarse con el pulgar, y otro para retroceder. Desde aquí también se inicia la presentación, se activa la pantalla negra y se lleva el tiempo con el cronómetro.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Deslizando el dedo sobre el celular se mueve un láser digital con estela, que se ve bien en televisores y pantallas LED. El modo foco oscurece la pantalla y resalta un círculo; el lápiz permite dibujar en colores sobre la diapositiva. Con el modo aire se apunta moviendo el celular.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celular también funciona como panel táctil: se mueve un cursor sobre la presentación y se hace clic, doble clic, clic derecho o se arrastra. Lo que se escribe en el teclado del celular aparece al instante en la computadora, incluso dentro de PowerPoint para la web.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beneficios principales: no hay que instalar nada, es gratis y no requiere hardware, da libertad de movimiento, el láser digital se ve en cualquier pantalla, reúne todas las herramientas en un solo lugar y respeta la privacidad.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Mando funciona con cualquier presentación que avance con el teclado. Google Slides y reveal.js se verificaron con presentaciones reales. El control funciona en celulares desde 320 píxeles y en tablets; en la computadora se necesita Google Chrome.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celular y la computadora se comunican de forma directa mediante WebRTC, cifrado de punto a punto. Un servidor de señalización gratuito solo se usa para que los dos dispositivos se encuentren; después ya no participa. Si la red bloquea la conexión directa, el tráfico, todavía cifrado, pasa por el servidor de retransmisión de Cloudflare. La clave secreta viaja dentro del QR y nunca se envía al servidor.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seguridad está en el diseño: conexión cifrada de extremo a extremo, la clave secreta solo existe en el QR, los scripts solo están activos mientras hay una sesión, no hay cuentas ni recopilación de datos y un botón permite renovar el código en cualquier momento.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Mando se probó de punta a punta con pruebas automáticas que conectan la extensión y el celular de verdad: 42 de 42 comprobaciones superadas. La interfaz se revisó en 28 combinaciones de pantalla y vista. Si se corta el servidor, se reconecta solo en unos 3 segundos sin desconectar al celular.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Hoy hay tres límites conocidos: se necesita internet para enlazar los dispositivos, Chrome no permite extensiones en sus páginas internas, y Mando no controla programas fuera del navegador. Ya están listos la retransmisión con Cloudflare para redes restrictivas y el QR nuevo en cada sesión. La versión 1.0 está en revisión en la Chrome Web Store y la 1.1 está preparada; queda por evaluar una app para Apple Watch.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Mando permite presentar con libertad: escanear, conectar y presentar desde el celular. El código QR de la diapositiva lleva al repositorio en GitHub, donde está todo el proyecto.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agradecer al público y abrir el espacio de preguntas. Si alguien quiere probarlo, puede escanear el código de la diapositiva anterior para ver el proyecto en GitHub.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22960" y="2788920"/>
            <a:ext cx="4937760" cy="10515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3977640"/>
            <a:ext cx="51206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822960" y="5760720"/>
            <a:ext cx="47548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38912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68096"/>
            <a:ext cx="109115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Mando · Control remoto de presentaciones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82512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_OSCURO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38912"/>
            <a:ext cx="822960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200" b="1" spc="200" kern="0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68096"/>
            <a:ext cx="10911535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4" name="Text 0"/>
          <p:cNvSpPr/>
          <p:nvPr/>
        </p:nvSpPr>
        <p:spPr>
          <a:xfrm>
            <a:off x="640080" y="63825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Mando · Control remoto de presentaciones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82512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ERR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874520"/>
            <a:ext cx="69494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926080"/>
            <a:ext cx="69494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5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82512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jp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jpg"/><Relationship Id="rId3" Type="http://schemas.openxmlformats.org/officeDocument/2006/relationships/image" Target="../media/image-6-3.jp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jp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5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jp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" descr="Logo de Man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1417320"/>
            <a:ext cx="1143000" cy="1143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22960" y="278892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600" b="1" dirty="0">
                <a:solidFill>
                  <a:schemeClr val="bg1"/>
                </a:solidFill>
              </a:rPr>
              <a:t>Mando</a:t>
            </a:r>
            <a:endParaRPr lang="en-US" sz="6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822960" y="39776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Controla tus presentaciones desde el celular</a:t>
            </a:r>
            <a:endParaRPr lang="en-US" sz="20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822960" y="5760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Miguel Mogrovejo · Octubre de 2026</a:t>
            </a:r>
            <a:endParaRPr lang="en-US" sz="1200" dirty="0"/>
          </a:p>
        </p:txBody>
      </p:sp>
      <p:sp>
        <p:nvSpPr>
          <p:cNvPr id="6" name="marco-1"/>
          <p:cNvSpPr/>
          <p:nvPr/>
        </p:nvSpPr>
        <p:spPr>
          <a:xfrm>
            <a:off x="6126480" y="1691640"/>
            <a:ext cx="4754880" cy="2674620"/>
          </a:xfrm>
          <a:prstGeom prst="rect">
            <a:avLst/>
          </a:prstGeom>
          <a:solidFill>
            <a:schemeClr val="bg1"/>
          </a:solidFill>
          <a:ln w="12700">
            <a:solidFill>
              <a:srgbClr val="3A3A3C"/>
            </a:solidFill>
            <a:prstDash val="solid"/>
          </a:ln>
        </p:spPr>
      </p:sp>
      <p:pic>
        <p:nvPicPr>
          <p:cNvPr id="7" name="captura-2" descr="Diapositiva con el puntero láser de Man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91640"/>
            <a:ext cx="4754880" cy="2674620"/>
          </a:xfrm>
          <a:prstGeom prst="rect">
            <a:avLst/>
          </a:prstGeom>
        </p:spPr>
      </p:pic>
      <p:pic>
        <p:nvPicPr>
          <p:cNvPr id="8" name="celular-3" descr="Control de Mando en el celular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960120"/>
            <a:ext cx="2349142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389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EL RETO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68096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Presentar no debería atarte a la computadora</a:t>
            </a:r>
            <a:endParaRPr lang="en-US" sz="3600" dirty="0"/>
          </a:p>
        </p:txBody>
      </p:sp>
      <p:sp>
        <p:nvSpPr>
          <p:cNvPr id="4" name="tarjeta-4"/>
          <p:cNvSpPr/>
          <p:nvPr/>
        </p:nvSpPr>
        <p:spPr>
          <a:xfrm>
            <a:off x="640080" y="1920240"/>
            <a:ext cx="2522144" cy="3017520"/>
          </a:xfrm>
          <a:prstGeom prst="roundRect">
            <a:avLst>
              <a:gd name="adj" fmla="val 5801"/>
            </a:avLst>
          </a:prstGeom>
          <a:solidFill>
            <a:schemeClr val="bg2"/>
          </a:solidFill>
          <a:ln/>
        </p:spPr>
      </p:sp>
      <p:sp>
        <p:nvSpPr>
          <p:cNvPr id="5" name="icono-fondo-5"/>
          <p:cNvSpPr/>
          <p:nvPr/>
        </p:nvSpPr>
        <p:spPr>
          <a:xfrm>
            <a:off x="960120" y="2240280"/>
            <a:ext cx="685800" cy="685800"/>
          </a:xfrm>
          <a:prstGeom prst="roundRect">
            <a:avLst>
              <a:gd name="adj" fmla="val 26000"/>
            </a:avLst>
          </a:prstGeom>
          <a:solidFill>
            <a:schemeClr val="tx1"/>
          </a:solidFill>
          <a:ln/>
        </p:spPr>
      </p:sp>
      <p:pic>
        <p:nvPicPr>
          <p:cNvPr id="6" name="icono-LuKeyboard-6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2404872"/>
            <a:ext cx="356616" cy="356616"/>
          </a:xfrm>
          <a:prstGeom prst="rect">
            <a:avLst/>
          </a:prstGeom>
        </p:spPr>
      </p:pic>
      <p:sp>
        <p:nvSpPr>
          <p:cNvPr id="7" name="texto-7"/>
          <p:cNvSpPr txBox="1"/>
          <p:nvPr/>
        </p:nvSpPr>
        <p:spPr>
          <a:xfrm>
            <a:off x="960120" y="3200400"/>
            <a:ext cx="18820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Atado al teclado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Cada cambio de diapositiva te obliga a volver a la computadora.</a:t>
            </a:r>
            <a:endParaRPr lang="en-US" sz="1800" dirty="0"/>
          </a:p>
        </p:txBody>
      </p:sp>
      <p:sp>
        <p:nvSpPr>
          <p:cNvPr id="8" name="tarjeta-8"/>
          <p:cNvSpPr/>
          <p:nvPr/>
        </p:nvSpPr>
        <p:spPr>
          <a:xfrm>
            <a:off x="3436544" y="1920240"/>
            <a:ext cx="2522144" cy="3017520"/>
          </a:xfrm>
          <a:prstGeom prst="roundRect">
            <a:avLst>
              <a:gd name="adj" fmla="val 5801"/>
            </a:avLst>
          </a:prstGeom>
          <a:solidFill>
            <a:schemeClr val="bg2"/>
          </a:solidFill>
          <a:ln/>
        </p:spPr>
      </p:sp>
      <p:sp>
        <p:nvSpPr>
          <p:cNvPr id="9" name="icono-fondo-9"/>
          <p:cNvSpPr/>
          <p:nvPr/>
        </p:nvSpPr>
        <p:spPr>
          <a:xfrm>
            <a:off x="3756584" y="2240280"/>
            <a:ext cx="685800" cy="685800"/>
          </a:xfrm>
          <a:prstGeom prst="roundRect">
            <a:avLst>
              <a:gd name="adj" fmla="val 26000"/>
            </a:avLst>
          </a:prstGeom>
          <a:solidFill>
            <a:schemeClr val="tx1"/>
          </a:solidFill>
          <a:ln/>
        </p:spPr>
      </p:sp>
      <p:pic>
        <p:nvPicPr>
          <p:cNvPr id="10" name="icono-LuUsb-1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1176" y="2404872"/>
            <a:ext cx="356616" cy="356616"/>
          </a:xfrm>
          <a:prstGeom prst="rect">
            <a:avLst/>
          </a:prstGeom>
        </p:spPr>
      </p:pic>
      <p:sp>
        <p:nvSpPr>
          <p:cNvPr id="11" name="texto-11"/>
          <p:cNvSpPr txBox="1"/>
          <p:nvPr/>
        </p:nvSpPr>
        <p:spPr>
          <a:xfrm>
            <a:off x="3756584" y="3200400"/>
            <a:ext cx="18820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Controles físicos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Cuestan dinero, usan pilas y un receptor USB que se olvida o se pierde.</a:t>
            </a:r>
            <a:endParaRPr lang="en-US" sz="1800" dirty="0"/>
          </a:p>
        </p:txBody>
      </p:sp>
      <p:sp>
        <p:nvSpPr>
          <p:cNvPr id="12" name="tarjeta-12"/>
          <p:cNvSpPr/>
          <p:nvPr/>
        </p:nvSpPr>
        <p:spPr>
          <a:xfrm>
            <a:off x="6233008" y="1920240"/>
            <a:ext cx="2522144" cy="3017520"/>
          </a:xfrm>
          <a:prstGeom prst="roundRect">
            <a:avLst>
              <a:gd name="adj" fmla="val 5801"/>
            </a:avLst>
          </a:prstGeom>
          <a:solidFill>
            <a:schemeClr val="bg2"/>
          </a:solidFill>
          <a:ln/>
        </p:spPr>
      </p:sp>
      <p:sp>
        <p:nvSpPr>
          <p:cNvPr id="13" name="icono-fondo-13"/>
          <p:cNvSpPr/>
          <p:nvPr/>
        </p:nvSpPr>
        <p:spPr>
          <a:xfrm>
            <a:off x="6553048" y="2240280"/>
            <a:ext cx="685800" cy="685800"/>
          </a:xfrm>
          <a:prstGeom prst="roundRect">
            <a:avLst>
              <a:gd name="adj" fmla="val 26000"/>
            </a:avLst>
          </a:prstGeom>
          <a:solidFill>
            <a:schemeClr val="tx1"/>
          </a:solidFill>
          <a:ln/>
        </p:spPr>
      </p:sp>
      <p:pic>
        <p:nvPicPr>
          <p:cNvPr id="14" name="icono-LuCrosshair-14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7640" y="2404872"/>
            <a:ext cx="356616" cy="356616"/>
          </a:xfrm>
          <a:prstGeom prst="rect">
            <a:avLst/>
          </a:prstGeom>
        </p:spPr>
      </p:pic>
      <p:sp>
        <p:nvSpPr>
          <p:cNvPr id="15" name="texto-15"/>
          <p:cNvSpPr txBox="1"/>
          <p:nvPr/>
        </p:nvSpPr>
        <p:spPr>
          <a:xfrm>
            <a:off x="6553048" y="3200400"/>
            <a:ext cx="18820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Láser que no se ve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Un láser físico apenas se nota en pantallas LED y televisores.</a:t>
            </a:r>
            <a:endParaRPr lang="en-US" sz="1800" dirty="0"/>
          </a:p>
        </p:txBody>
      </p:sp>
      <p:sp>
        <p:nvSpPr>
          <p:cNvPr id="16" name="tarjeta-16"/>
          <p:cNvSpPr/>
          <p:nvPr/>
        </p:nvSpPr>
        <p:spPr>
          <a:xfrm>
            <a:off x="9029471" y="1920240"/>
            <a:ext cx="2522144" cy="3017520"/>
          </a:xfrm>
          <a:prstGeom prst="roundRect">
            <a:avLst>
              <a:gd name="adj" fmla="val 5801"/>
            </a:avLst>
          </a:prstGeom>
          <a:solidFill>
            <a:schemeClr val="bg2"/>
          </a:solidFill>
          <a:ln/>
        </p:spPr>
      </p:sp>
      <p:sp>
        <p:nvSpPr>
          <p:cNvPr id="17" name="icono-fondo-17"/>
          <p:cNvSpPr/>
          <p:nvPr/>
        </p:nvSpPr>
        <p:spPr>
          <a:xfrm>
            <a:off x="9349511" y="2240280"/>
            <a:ext cx="685800" cy="685800"/>
          </a:xfrm>
          <a:prstGeom prst="roundRect">
            <a:avLst>
              <a:gd name="adj" fmla="val 26000"/>
            </a:avLst>
          </a:prstGeom>
          <a:solidFill>
            <a:schemeClr val="tx1"/>
          </a:solidFill>
          <a:ln/>
        </p:spPr>
      </p:sp>
      <p:pic>
        <p:nvPicPr>
          <p:cNvPr id="18" name="icono-LuMousePointerClick-1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14103" y="2404872"/>
            <a:ext cx="356616" cy="356616"/>
          </a:xfrm>
          <a:prstGeom prst="rect">
            <a:avLst/>
          </a:prstGeom>
        </p:spPr>
      </p:pic>
      <p:sp>
        <p:nvSpPr>
          <p:cNvPr id="19" name="texto-19"/>
          <p:cNvSpPr txBox="1"/>
          <p:nvPr/>
        </p:nvSpPr>
        <p:spPr>
          <a:xfrm>
            <a:off x="9349511" y="3200400"/>
            <a:ext cx="188206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Interrupciones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Hacer clic o escribir algo corta el ritmo de la charla.</a:t>
            </a:r>
            <a:endParaRPr lang="en-US" sz="1800" dirty="0"/>
          </a:p>
        </p:txBody>
      </p:sp>
      <p:sp>
        <p:nvSpPr>
          <p:cNvPr id="20" name="tarjeta-20"/>
          <p:cNvSpPr/>
          <p:nvPr/>
        </p:nvSpPr>
        <p:spPr>
          <a:xfrm>
            <a:off x="640080" y="5257800"/>
            <a:ext cx="10911535" cy="777240"/>
          </a:xfrm>
          <a:prstGeom prst="roundRect">
            <a:avLst>
              <a:gd name="adj" fmla="val 18824"/>
            </a:avLst>
          </a:prstGeom>
          <a:solidFill>
            <a:schemeClr val="tx1"/>
          </a:solidFill>
          <a:ln/>
        </p:spPr>
      </p:sp>
      <p:sp>
        <p:nvSpPr>
          <p:cNvPr id="21" name="punto-laser"/>
          <p:cNvSpPr/>
          <p:nvPr/>
        </p:nvSpPr>
        <p:spPr>
          <a:xfrm>
            <a:off x="1005840" y="5564124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puente"/>
          <p:cNvSpPr txBox="1"/>
          <p:nvPr/>
        </p:nvSpPr>
        <p:spPr>
          <a:xfrm>
            <a:off x="1371600" y="5257800"/>
            <a:ext cx="9905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Con Mando, todo eso se resuelve desde el celular que ya llevas en el bolsillo.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82512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389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LA SOLUCIÓN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68096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Mando convierte tu celular en el control remoto</a:t>
            </a:r>
            <a:endParaRPr lang="en-US" sz="3600" dirty="0"/>
          </a:p>
        </p:txBody>
      </p:sp>
      <p:sp>
        <p:nvSpPr>
          <p:cNvPr id="4" name="resumen"/>
          <p:cNvSpPr txBox="1"/>
          <p:nvPr/>
        </p:nvSpPr>
        <p:spPr>
          <a:xfrm>
            <a:off x="640080" y="1783080"/>
            <a:ext cx="5760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Una extensión de Chrome y una página web: escaneas un código QR y tu celular controla la presentación.</a:t>
            </a:r>
            <a:endParaRPr lang="en-US" sz="1800" dirty="0"/>
          </a:p>
        </p:txBody>
      </p:sp>
      <p:sp>
        <p:nvSpPr>
          <p:cNvPr id="5" name="icono-fondo-21"/>
          <p:cNvSpPr/>
          <p:nvPr/>
        </p:nvSpPr>
        <p:spPr>
          <a:xfrm>
            <a:off x="640080" y="2880360"/>
            <a:ext cx="621792" cy="621792"/>
          </a:xfrm>
          <a:prstGeom prst="roundRect">
            <a:avLst>
              <a:gd name="adj" fmla="val 26000"/>
            </a:avLst>
          </a:prstGeom>
          <a:solidFill>
            <a:schemeClr val="accent1"/>
          </a:solidFill>
          <a:ln/>
        </p:spPr>
      </p:sp>
      <p:pic>
        <p:nvPicPr>
          <p:cNvPr id="6" name="icono-LuQrCode-22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9310" y="3029590"/>
            <a:ext cx="323332" cy="323332"/>
          </a:xfrm>
          <a:prstGeom prst="rect">
            <a:avLst/>
          </a:prstGeom>
        </p:spPr>
      </p:pic>
      <p:sp>
        <p:nvSpPr>
          <p:cNvPr id="7" name="texto-23"/>
          <p:cNvSpPr txBox="1"/>
          <p:nvPr/>
        </p:nvSpPr>
        <p:spPr>
          <a:xfrm>
            <a:off x="1508760" y="2862072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Sin instalar nada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El QR abre el control en el navegador del celular.</a:t>
            </a:r>
            <a:endParaRPr lang="en-US" sz="1700" dirty="0"/>
          </a:p>
        </p:txBody>
      </p:sp>
      <p:sp>
        <p:nvSpPr>
          <p:cNvPr id="8" name="icono-fondo-24"/>
          <p:cNvSpPr/>
          <p:nvPr/>
        </p:nvSpPr>
        <p:spPr>
          <a:xfrm>
            <a:off x="640080" y="3931920"/>
            <a:ext cx="621792" cy="621792"/>
          </a:xfrm>
          <a:prstGeom prst="roundRect">
            <a:avLst>
              <a:gd name="adj" fmla="val 26000"/>
            </a:avLst>
          </a:prstGeom>
          <a:solidFill>
            <a:schemeClr val="accent1"/>
          </a:solidFill>
          <a:ln/>
        </p:spPr>
      </p:sp>
      <p:pic>
        <p:nvPicPr>
          <p:cNvPr id="9" name="icono-LuLayers-2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9310" y="4081150"/>
            <a:ext cx="323332" cy="323332"/>
          </a:xfrm>
          <a:prstGeom prst="rect">
            <a:avLst/>
          </a:prstGeom>
        </p:spPr>
      </p:pic>
      <p:sp>
        <p:nvSpPr>
          <p:cNvPr id="10" name="texto-26"/>
          <p:cNvSpPr txBox="1"/>
          <p:nvPr/>
        </p:nvSpPr>
        <p:spPr>
          <a:xfrm>
            <a:off x="1508760" y="3913632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Todo en uno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Diapositivas, láser, lápiz, mouse y teclado.</a:t>
            </a:r>
            <a:endParaRPr lang="en-US" sz="1700" dirty="0"/>
          </a:p>
        </p:txBody>
      </p:sp>
      <p:sp>
        <p:nvSpPr>
          <p:cNvPr id="11" name="icono-fondo-27"/>
          <p:cNvSpPr/>
          <p:nvPr/>
        </p:nvSpPr>
        <p:spPr>
          <a:xfrm>
            <a:off x="640080" y="4983480"/>
            <a:ext cx="621792" cy="621792"/>
          </a:xfrm>
          <a:prstGeom prst="roundRect">
            <a:avLst>
              <a:gd name="adj" fmla="val 26000"/>
            </a:avLst>
          </a:prstGeom>
          <a:solidFill>
            <a:schemeClr val="accent1"/>
          </a:solidFill>
          <a:ln/>
        </p:spPr>
      </p:sp>
      <p:pic>
        <p:nvPicPr>
          <p:cNvPr id="12" name="icono-LuShieldCheck-2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9310" y="5132710"/>
            <a:ext cx="323332" cy="323332"/>
          </a:xfrm>
          <a:prstGeom prst="rect">
            <a:avLst/>
          </a:prstGeom>
        </p:spPr>
      </p:pic>
      <p:sp>
        <p:nvSpPr>
          <p:cNvPr id="13" name="texto-29"/>
          <p:cNvSpPr txBox="1"/>
          <p:nvPr/>
        </p:nvSpPr>
        <p:spPr>
          <a:xfrm>
            <a:off x="1508760" y="4965192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Directo y cifrado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Sin cuentas: los comandos van del celular a la computadora.</a:t>
            </a:r>
            <a:endParaRPr lang="en-US" sz="1700" dirty="0"/>
          </a:p>
        </p:txBody>
      </p:sp>
      <p:sp>
        <p:nvSpPr>
          <p:cNvPr id="14" name="marco-30"/>
          <p:cNvSpPr/>
          <p:nvPr/>
        </p:nvSpPr>
        <p:spPr>
          <a:xfrm>
            <a:off x="6720840" y="1737360"/>
            <a:ext cx="2087445" cy="4297680"/>
          </a:xfrm>
          <a:prstGeom prst="rect">
            <a:avLst/>
          </a:prstGeom>
          <a:solidFill>
            <a:schemeClr val="bg1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pic>
        <p:nvPicPr>
          <p:cNvPr id="15" name="captura-31" descr="Panel de la extensión con el código QR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1737360"/>
            <a:ext cx="2087445" cy="4297680"/>
          </a:xfrm>
          <a:prstGeom prst="rect">
            <a:avLst/>
          </a:prstGeom>
        </p:spPr>
      </p:pic>
      <p:pic>
        <p:nvPicPr>
          <p:cNvPr id="16" name="flecha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2832" y="3657600"/>
            <a:ext cx="329184" cy="329184"/>
          </a:xfrm>
          <a:prstGeom prst="rect">
            <a:avLst/>
          </a:prstGeom>
        </p:spPr>
      </p:pic>
      <p:pic>
        <p:nvPicPr>
          <p:cNvPr id="17" name="celular-32" descr="Control en el celular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600" y="1600200"/>
            <a:ext cx="2175132" cy="4572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82512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389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CÓMO SE USA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68096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Tres pasos y estás presentando</a:t>
            </a:r>
            <a:endParaRPr lang="en-US" sz="3600" dirty="0"/>
          </a:p>
        </p:txBody>
      </p:sp>
      <p:sp>
        <p:nvSpPr>
          <p:cNvPr id="4" name="tarjeta-33"/>
          <p:cNvSpPr/>
          <p:nvPr/>
        </p:nvSpPr>
        <p:spPr>
          <a:xfrm>
            <a:off x="640080" y="1783080"/>
            <a:ext cx="3291840" cy="2514600"/>
          </a:xfrm>
          <a:prstGeom prst="roundRect">
            <a:avLst>
              <a:gd name="adj" fmla="val 5818"/>
            </a:avLst>
          </a:prstGeom>
          <a:solidFill>
            <a:schemeClr val="bg2"/>
          </a:solidFill>
          <a:ln/>
        </p:spPr>
      </p:sp>
      <p:sp>
        <p:nvSpPr>
          <p:cNvPr id="5" name="marco-34"/>
          <p:cNvSpPr/>
          <p:nvPr/>
        </p:nvSpPr>
        <p:spPr>
          <a:xfrm>
            <a:off x="822960" y="2217420"/>
            <a:ext cx="2926080" cy="1645920"/>
          </a:xfrm>
          <a:prstGeom prst="rect">
            <a:avLst/>
          </a:prstGeom>
          <a:solidFill>
            <a:schemeClr val="bg1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pic>
        <p:nvPicPr>
          <p:cNvPr id="6" name="captura-35" descr="Presentación abierta en Chrom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217420"/>
            <a:ext cx="2926080" cy="1645920"/>
          </a:xfrm>
          <a:prstGeom prst="rect">
            <a:avLst/>
          </a:prstGeom>
        </p:spPr>
      </p:pic>
      <p:sp>
        <p:nvSpPr>
          <p:cNvPr id="7" name="numero-36"/>
          <p:cNvSpPr/>
          <p:nvPr/>
        </p:nvSpPr>
        <p:spPr>
          <a:xfrm>
            <a:off x="640080" y="4590288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8" name="numero-texto-37"/>
          <p:cNvSpPr txBox="1"/>
          <p:nvPr/>
        </p:nvSpPr>
        <p:spPr>
          <a:xfrm>
            <a:off x="640080" y="4590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o-38"/>
          <p:cNvSpPr txBox="1"/>
          <p:nvPr/>
        </p:nvSpPr>
        <p:spPr>
          <a:xfrm>
            <a:off x="1325880" y="4572000"/>
            <a:ext cx="2606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Abre tu presentación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En Google Slides, PowerPoint web, Canva o cualquier página en Chrome.</a:t>
            </a:r>
            <a:endParaRPr lang="en-US" sz="1800" dirty="0"/>
          </a:p>
        </p:txBody>
      </p:sp>
      <p:pic>
        <p:nvPicPr>
          <p:cNvPr id="10" name="flecha-3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8044" y="2852928"/>
            <a:ext cx="365760" cy="365760"/>
          </a:xfrm>
          <a:prstGeom prst="rect">
            <a:avLst/>
          </a:prstGeom>
        </p:spPr>
      </p:pic>
      <p:sp>
        <p:nvSpPr>
          <p:cNvPr id="11" name="tarjeta-40"/>
          <p:cNvSpPr/>
          <p:nvPr/>
        </p:nvSpPr>
        <p:spPr>
          <a:xfrm>
            <a:off x="4449928" y="1783080"/>
            <a:ext cx="3291840" cy="2514600"/>
          </a:xfrm>
          <a:prstGeom prst="roundRect">
            <a:avLst>
              <a:gd name="adj" fmla="val 5818"/>
            </a:avLst>
          </a:prstGeom>
          <a:solidFill>
            <a:schemeClr val="bg2"/>
          </a:solidFill>
          <a:ln/>
        </p:spPr>
      </p:sp>
      <p:sp>
        <p:nvSpPr>
          <p:cNvPr id="12" name="marco-41"/>
          <p:cNvSpPr/>
          <p:nvPr/>
        </p:nvSpPr>
        <p:spPr>
          <a:xfrm>
            <a:off x="5551780" y="1920240"/>
            <a:ext cx="1088136" cy="2240280"/>
          </a:xfrm>
          <a:prstGeom prst="rect">
            <a:avLst/>
          </a:prstGeom>
          <a:solidFill>
            <a:schemeClr val="bg1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pic>
        <p:nvPicPr>
          <p:cNvPr id="13" name="captura-42" descr="Código QR de Mand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1780" y="1920240"/>
            <a:ext cx="1088136" cy="2240280"/>
          </a:xfrm>
          <a:prstGeom prst="rect">
            <a:avLst/>
          </a:prstGeom>
        </p:spPr>
      </p:pic>
      <p:sp>
        <p:nvSpPr>
          <p:cNvPr id="14" name="numero-43"/>
          <p:cNvSpPr/>
          <p:nvPr/>
        </p:nvSpPr>
        <p:spPr>
          <a:xfrm>
            <a:off x="4449928" y="4590288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15" name="numero-texto-44"/>
          <p:cNvSpPr txBox="1"/>
          <p:nvPr/>
        </p:nvSpPr>
        <p:spPr>
          <a:xfrm>
            <a:off x="4449928" y="4590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texto-45"/>
          <p:cNvSpPr txBox="1"/>
          <p:nvPr/>
        </p:nvSpPr>
        <p:spPr>
          <a:xfrm>
            <a:off x="5135728" y="4572000"/>
            <a:ext cx="2606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Escanea el código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Haz clic en el ícono de Mando (Alt+Shift+M) y apunta la cámara al QR.</a:t>
            </a:r>
            <a:endParaRPr lang="en-US" sz="1800" dirty="0"/>
          </a:p>
        </p:txBody>
      </p:sp>
      <p:pic>
        <p:nvPicPr>
          <p:cNvPr id="17" name="flecha-46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7891" y="2852928"/>
            <a:ext cx="365760" cy="365760"/>
          </a:xfrm>
          <a:prstGeom prst="rect">
            <a:avLst/>
          </a:prstGeom>
        </p:spPr>
      </p:pic>
      <p:sp>
        <p:nvSpPr>
          <p:cNvPr id="18" name="tarjeta-47"/>
          <p:cNvSpPr/>
          <p:nvPr/>
        </p:nvSpPr>
        <p:spPr>
          <a:xfrm>
            <a:off x="8259775" y="1783080"/>
            <a:ext cx="3291840" cy="2514600"/>
          </a:xfrm>
          <a:prstGeom prst="roundRect">
            <a:avLst>
              <a:gd name="adj" fmla="val 5818"/>
            </a:avLst>
          </a:prstGeom>
          <a:solidFill>
            <a:schemeClr val="bg2"/>
          </a:solidFill>
          <a:ln/>
        </p:spPr>
      </p:sp>
      <p:pic>
        <p:nvPicPr>
          <p:cNvPr id="19" name="celular-48" descr="Control en el celular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72788" y="1920240"/>
            <a:ext cx="1065815" cy="2240280"/>
          </a:xfrm>
          <a:prstGeom prst="rect">
            <a:avLst/>
          </a:prstGeom>
        </p:spPr>
      </p:pic>
      <p:sp>
        <p:nvSpPr>
          <p:cNvPr id="20" name="numero-49"/>
          <p:cNvSpPr/>
          <p:nvPr/>
        </p:nvSpPr>
        <p:spPr>
          <a:xfrm>
            <a:off x="8259775" y="4590288"/>
            <a:ext cx="502920" cy="502920"/>
          </a:xfrm>
          <a:prstGeom prst="ellipse">
            <a:avLst/>
          </a:prstGeom>
          <a:solidFill>
            <a:schemeClr val="tx1"/>
          </a:solidFill>
          <a:ln/>
        </p:spPr>
      </p:sp>
      <p:sp>
        <p:nvSpPr>
          <p:cNvPr id="21" name="numero-texto-50"/>
          <p:cNvSpPr txBox="1"/>
          <p:nvPr/>
        </p:nvSpPr>
        <p:spPr>
          <a:xfrm>
            <a:off x="8259775" y="45902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2" name="texto-51"/>
          <p:cNvSpPr txBox="1"/>
          <p:nvPr/>
        </p:nvSpPr>
        <p:spPr>
          <a:xfrm>
            <a:off x="8945575" y="4572000"/>
            <a:ext cx="26060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chemeClr val="tx1"/>
                </a:solidFill>
              </a:rPr>
              <a:t>Presenta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El control se abre en el navegador del celular. Avanza, señala o escribe.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82512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389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FUNCIONES · DIAPOSITIVAS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68096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Avanza con un toque, desde cualquier lugar</a:t>
            </a:r>
            <a:endParaRPr lang="en-US" sz="3600" dirty="0"/>
          </a:p>
        </p:txBody>
      </p:sp>
      <p:pic>
        <p:nvPicPr>
          <p:cNvPr id="4" name="celular-52" descr="Pantalla de diapositivas del contr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45920"/>
            <a:ext cx="2153380" cy="4526280"/>
          </a:xfrm>
          <a:prstGeom prst="rect">
            <a:avLst/>
          </a:prstGeom>
        </p:spPr>
      </p:pic>
      <p:sp>
        <p:nvSpPr>
          <p:cNvPr id="5" name="icono-fondo-53"/>
          <p:cNvSpPr/>
          <p:nvPr/>
        </p:nvSpPr>
        <p:spPr>
          <a:xfrm>
            <a:off x="3931920" y="1783080"/>
            <a:ext cx="548640" cy="548640"/>
          </a:xfrm>
          <a:prstGeom prst="roundRect">
            <a:avLst>
              <a:gd name="adj" fmla="val 26000"/>
            </a:avLst>
          </a:prstGeom>
          <a:solidFill>
            <a:schemeClr val="tx1"/>
          </a:solidFill>
          <a:ln/>
        </p:spPr>
      </p:sp>
      <p:pic>
        <p:nvPicPr>
          <p:cNvPr id="6" name="icono-LuChevronRight-54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3594" y="1914754"/>
            <a:ext cx="285293" cy="285293"/>
          </a:xfrm>
          <a:prstGeom prst="rect">
            <a:avLst/>
          </a:prstGeom>
        </p:spPr>
      </p:pic>
      <p:sp>
        <p:nvSpPr>
          <p:cNvPr id="7" name="texto-55"/>
          <p:cNvSpPr txBox="1"/>
          <p:nvPr/>
        </p:nvSpPr>
        <p:spPr>
          <a:xfrm>
            <a:off x="4709160" y="1755648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Siguiente y anterior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Un botón grande para el pulgar; también puedes deslizar el dedo.</a:t>
            </a:r>
            <a:endParaRPr lang="en-US" sz="1700" dirty="0"/>
          </a:p>
        </p:txBody>
      </p:sp>
      <p:sp>
        <p:nvSpPr>
          <p:cNvPr id="8" name="icono-fondo-56"/>
          <p:cNvSpPr/>
          <p:nvPr/>
        </p:nvSpPr>
        <p:spPr>
          <a:xfrm>
            <a:off x="3931920" y="2651760"/>
            <a:ext cx="548640" cy="548640"/>
          </a:xfrm>
          <a:prstGeom prst="roundRect">
            <a:avLst>
              <a:gd name="adj" fmla="val 26000"/>
            </a:avLst>
          </a:prstGeom>
          <a:solidFill>
            <a:schemeClr val="tx1"/>
          </a:solidFill>
          <a:ln/>
        </p:spPr>
      </p:sp>
      <p:pic>
        <p:nvPicPr>
          <p:cNvPr id="9" name="icono-LuPlay-57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3594" y="2783434"/>
            <a:ext cx="285293" cy="285293"/>
          </a:xfrm>
          <a:prstGeom prst="rect">
            <a:avLst/>
          </a:prstGeom>
        </p:spPr>
      </p:pic>
      <p:sp>
        <p:nvSpPr>
          <p:cNvPr id="10" name="texto-58"/>
          <p:cNvSpPr txBox="1"/>
          <p:nvPr/>
        </p:nvSpPr>
        <p:spPr>
          <a:xfrm>
            <a:off x="4709160" y="2624328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Presentar y salir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Inicia el modo presentación de Google Slides y la pantalla completa.</a:t>
            </a:r>
            <a:endParaRPr lang="en-US" sz="1700" dirty="0"/>
          </a:p>
        </p:txBody>
      </p:sp>
      <p:sp>
        <p:nvSpPr>
          <p:cNvPr id="11" name="icono-fondo-59"/>
          <p:cNvSpPr/>
          <p:nvPr/>
        </p:nvSpPr>
        <p:spPr>
          <a:xfrm>
            <a:off x="3931920" y="3520440"/>
            <a:ext cx="548640" cy="548640"/>
          </a:xfrm>
          <a:prstGeom prst="roundRect">
            <a:avLst>
              <a:gd name="adj" fmla="val 26000"/>
            </a:avLst>
          </a:prstGeom>
          <a:solidFill>
            <a:schemeClr val="tx1"/>
          </a:solidFill>
          <a:ln/>
        </p:spPr>
      </p:sp>
      <p:pic>
        <p:nvPicPr>
          <p:cNvPr id="12" name="icono-LuSquare-6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3594" y="3652114"/>
            <a:ext cx="285293" cy="285293"/>
          </a:xfrm>
          <a:prstGeom prst="rect">
            <a:avLst/>
          </a:prstGeom>
        </p:spPr>
      </p:pic>
      <p:sp>
        <p:nvSpPr>
          <p:cNvPr id="13" name="texto-61"/>
          <p:cNvSpPr txBox="1"/>
          <p:nvPr/>
        </p:nvSpPr>
        <p:spPr>
          <a:xfrm>
            <a:off x="4709160" y="3493008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Pantalla negra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Oscurece la pantalla para que el público te mire a ti.</a:t>
            </a:r>
            <a:endParaRPr lang="en-US" sz="1700" dirty="0"/>
          </a:p>
        </p:txBody>
      </p:sp>
      <p:sp>
        <p:nvSpPr>
          <p:cNvPr id="14" name="icono-fondo-62"/>
          <p:cNvSpPr/>
          <p:nvPr/>
        </p:nvSpPr>
        <p:spPr>
          <a:xfrm>
            <a:off x="3931920" y="4389120"/>
            <a:ext cx="548640" cy="548640"/>
          </a:xfrm>
          <a:prstGeom prst="roundRect">
            <a:avLst>
              <a:gd name="adj" fmla="val 26000"/>
            </a:avLst>
          </a:prstGeom>
          <a:solidFill>
            <a:schemeClr val="tx1"/>
          </a:solidFill>
          <a:ln/>
        </p:spPr>
      </p:sp>
      <p:pic>
        <p:nvPicPr>
          <p:cNvPr id="15" name="icono-LuTimer-6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63594" y="4520794"/>
            <a:ext cx="285293" cy="285293"/>
          </a:xfrm>
          <a:prstGeom prst="rect">
            <a:avLst/>
          </a:prstGeom>
        </p:spPr>
      </p:pic>
      <p:sp>
        <p:nvSpPr>
          <p:cNvPr id="16" name="texto-64"/>
          <p:cNvSpPr txBox="1"/>
          <p:nvPr/>
        </p:nvSpPr>
        <p:spPr>
          <a:xfrm>
            <a:off x="4709160" y="4361688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Cronómetro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Controla el tiempo de tu charla sin mirar la computadora.</a:t>
            </a:r>
            <a:endParaRPr lang="en-US" sz="1700" dirty="0"/>
          </a:p>
        </p:txBody>
      </p:sp>
      <p:sp>
        <p:nvSpPr>
          <p:cNvPr id="17" name="icono-fondo-65"/>
          <p:cNvSpPr/>
          <p:nvPr/>
        </p:nvSpPr>
        <p:spPr>
          <a:xfrm>
            <a:off x="3931920" y="5257800"/>
            <a:ext cx="548640" cy="548640"/>
          </a:xfrm>
          <a:prstGeom prst="roundRect">
            <a:avLst>
              <a:gd name="adj" fmla="val 26000"/>
            </a:avLst>
          </a:prstGeom>
          <a:solidFill>
            <a:schemeClr val="tx1"/>
          </a:solidFill>
          <a:ln/>
        </p:spPr>
      </p:sp>
      <p:pic>
        <p:nvPicPr>
          <p:cNvPr id="18" name="icono-LuVibrate-6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63594" y="5389474"/>
            <a:ext cx="285293" cy="285293"/>
          </a:xfrm>
          <a:prstGeom prst="rect">
            <a:avLst/>
          </a:prstGeom>
        </p:spPr>
      </p:pic>
      <p:sp>
        <p:nvSpPr>
          <p:cNvPr id="19" name="texto-67"/>
          <p:cNvSpPr txBox="1"/>
          <p:nvPr/>
        </p:nvSpPr>
        <p:spPr>
          <a:xfrm>
            <a:off x="4709160" y="5230368"/>
            <a:ext cx="6766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Pensado para el celular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Vibra al pulsar y mantiene la pantalla encendida mientras presentas.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82512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389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FUNCIONES · PUNTERO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68096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Señala, ilumina y dibuja sobre la diapositiva</a:t>
            </a:r>
            <a:endParaRPr lang="en-US" sz="3600" dirty="0"/>
          </a:p>
        </p:txBody>
      </p:sp>
      <p:sp>
        <p:nvSpPr>
          <p:cNvPr id="4" name="marco-68"/>
          <p:cNvSpPr/>
          <p:nvPr/>
        </p:nvSpPr>
        <p:spPr>
          <a:xfrm>
            <a:off x="640080" y="1828800"/>
            <a:ext cx="3429914" cy="1929327"/>
          </a:xfrm>
          <a:prstGeom prst="rect">
            <a:avLst/>
          </a:prstGeom>
          <a:solidFill>
            <a:schemeClr val="bg1"/>
          </a:solidFill>
          <a:ln w="12700">
            <a:solidFill>
              <a:srgbClr val="3A3A3C"/>
            </a:solidFill>
            <a:prstDash val="solid"/>
          </a:ln>
        </p:spPr>
      </p:sp>
      <p:pic>
        <p:nvPicPr>
          <p:cNvPr id="5" name="captura-69" descr="Láser con estel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28800"/>
            <a:ext cx="3429914" cy="1929327"/>
          </a:xfrm>
          <a:prstGeom prst="rect">
            <a:avLst/>
          </a:prstGeom>
        </p:spPr>
      </p:pic>
      <p:sp>
        <p:nvSpPr>
          <p:cNvPr id="6" name="texto-70"/>
          <p:cNvSpPr txBox="1"/>
          <p:nvPr/>
        </p:nvSpPr>
        <p:spPr>
          <a:xfrm>
            <a:off x="640080" y="3986727"/>
            <a:ext cx="34299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Láser con estela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Un punto rojo brillante que se ve en cualquier pantalla, incluso en pantalla completa.</a:t>
            </a:r>
            <a:endParaRPr lang="en-US" sz="1800" dirty="0"/>
          </a:p>
        </p:txBody>
      </p:sp>
      <p:sp>
        <p:nvSpPr>
          <p:cNvPr id="7" name="marco-71"/>
          <p:cNvSpPr/>
          <p:nvPr/>
        </p:nvSpPr>
        <p:spPr>
          <a:xfrm>
            <a:off x="4380890" y="1828800"/>
            <a:ext cx="3429914" cy="1929327"/>
          </a:xfrm>
          <a:prstGeom prst="rect">
            <a:avLst/>
          </a:prstGeom>
          <a:solidFill>
            <a:schemeClr val="bg1"/>
          </a:solidFill>
          <a:ln w="12700">
            <a:solidFill>
              <a:srgbClr val="3A3A3C"/>
            </a:solidFill>
            <a:prstDash val="solid"/>
          </a:ln>
        </p:spPr>
      </p:sp>
      <p:pic>
        <p:nvPicPr>
          <p:cNvPr id="8" name="captura-72" descr="Foco de luz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0890" y="1828800"/>
            <a:ext cx="3429914" cy="1929327"/>
          </a:xfrm>
          <a:prstGeom prst="rect">
            <a:avLst/>
          </a:prstGeom>
        </p:spPr>
      </p:pic>
      <p:sp>
        <p:nvSpPr>
          <p:cNvPr id="9" name="texto-73"/>
          <p:cNvSpPr txBox="1"/>
          <p:nvPr/>
        </p:nvSpPr>
        <p:spPr>
          <a:xfrm>
            <a:off x="4380890" y="3986727"/>
            <a:ext cx="34299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Foco de luz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Oscurece todo menos el círculo que quieres destacar.</a:t>
            </a:r>
            <a:endParaRPr lang="en-US" sz="1800" dirty="0"/>
          </a:p>
        </p:txBody>
      </p:sp>
      <p:sp>
        <p:nvSpPr>
          <p:cNvPr id="10" name="marco-74"/>
          <p:cNvSpPr/>
          <p:nvPr/>
        </p:nvSpPr>
        <p:spPr>
          <a:xfrm>
            <a:off x="8121701" y="1828800"/>
            <a:ext cx="3429914" cy="1929327"/>
          </a:xfrm>
          <a:prstGeom prst="rect">
            <a:avLst/>
          </a:prstGeom>
          <a:solidFill>
            <a:schemeClr val="bg1"/>
          </a:solidFill>
          <a:ln w="12700">
            <a:solidFill>
              <a:srgbClr val="3A3A3C"/>
            </a:solidFill>
            <a:prstDash val="solid"/>
          </a:ln>
        </p:spPr>
      </p:sp>
      <p:pic>
        <p:nvPicPr>
          <p:cNvPr id="11" name="captura-75" descr="Lápiz de colore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1701" y="1828800"/>
            <a:ext cx="3429914" cy="1929327"/>
          </a:xfrm>
          <a:prstGeom prst="rect">
            <a:avLst/>
          </a:prstGeom>
        </p:spPr>
      </p:pic>
      <p:sp>
        <p:nvSpPr>
          <p:cNvPr id="12" name="texto-76"/>
          <p:cNvSpPr txBox="1"/>
          <p:nvPr/>
        </p:nvSpPr>
        <p:spPr>
          <a:xfrm>
            <a:off x="8121701" y="3986727"/>
            <a:ext cx="342991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Lápiz de colores</a:t>
            </a:r>
            <a:endParaRPr lang="en-US" sz="18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Encierra, subraya y anota; con deshacer y borrar todo.</a:t>
            </a:r>
            <a:endParaRPr lang="en-US" sz="1800" dirty="0"/>
          </a:p>
        </p:txBody>
      </p:sp>
      <p:sp>
        <p:nvSpPr>
          <p:cNvPr id="13" name="icono-fondo-77"/>
          <p:cNvSpPr/>
          <p:nvPr/>
        </p:nvSpPr>
        <p:spPr>
          <a:xfrm>
            <a:off x="640080" y="5440680"/>
            <a:ext cx="502920" cy="502920"/>
          </a:xfrm>
          <a:prstGeom prst="roundRect">
            <a:avLst>
              <a:gd name="adj" fmla="val 26000"/>
            </a:avLst>
          </a:prstGeom>
          <a:solidFill>
            <a:schemeClr val="accent1"/>
          </a:solidFill>
          <a:ln/>
        </p:spPr>
      </p:sp>
      <p:pic>
        <p:nvPicPr>
          <p:cNvPr id="14" name="icono-LuSmartphone-78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0781" y="5561381"/>
            <a:ext cx="261518" cy="261518"/>
          </a:xfrm>
          <a:prstGeom prst="rect">
            <a:avLst/>
          </a:prstGeom>
        </p:spPr>
      </p:pic>
      <p:sp>
        <p:nvSpPr>
          <p:cNvPr id="15" name="modo-aire"/>
          <p:cNvSpPr txBox="1"/>
          <p:nvPr/>
        </p:nvSpPr>
        <p:spPr>
          <a:xfrm>
            <a:off x="1371600" y="544068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Modo aire: </a:t>
            </a:r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apunta moviendo el celular, como un control de verdad (usa el giroscopio).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82512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389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FUNCIONES · MOUSE Y TECLADO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68096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Un panel táctil y un teclado en tu bolsillo</a:t>
            </a:r>
            <a:endParaRPr lang="en-US" sz="3600" dirty="0"/>
          </a:p>
        </p:txBody>
      </p:sp>
      <p:pic>
        <p:nvPicPr>
          <p:cNvPr id="4" name="celular-79" descr="Panel táctil del contr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45920"/>
            <a:ext cx="2131629" cy="4480560"/>
          </a:xfrm>
          <a:prstGeom prst="rect">
            <a:avLst/>
          </a:prstGeom>
        </p:spPr>
      </p:pic>
      <p:pic>
        <p:nvPicPr>
          <p:cNvPr id="5" name="celular-80" descr="Teclado del contro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800" y="1645920"/>
            <a:ext cx="2131629" cy="4480560"/>
          </a:xfrm>
          <a:prstGeom prst="rect">
            <a:avLst/>
          </a:prstGeom>
        </p:spPr>
      </p:pic>
      <p:sp>
        <p:nvSpPr>
          <p:cNvPr id="6" name="marco-81"/>
          <p:cNvSpPr/>
          <p:nvPr/>
        </p:nvSpPr>
        <p:spPr>
          <a:xfrm>
            <a:off x="5669280" y="1737360"/>
            <a:ext cx="5882335" cy="3308814"/>
          </a:xfrm>
          <a:prstGeom prst="rect">
            <a:avLst/>
          </a:prstGeom>
          <a:solidFill>
            <a:schemeClr val="bg1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77800" dist="50800" dir="5400000">
              <a:srgbClr val="000000">
                <a:alpha val="18000"/>
              </a:srgbClr>
            </a:outerShdw>
          </a:effectLst>
        </p:spPr>
      </p:sp>
      <p:pic>
        <p:nvPicPr>
          <p:cNvPr id="7" name="captura-82" descr="Cursor remoto sobre la presentació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737360"/>
            <a:ext cx="5882335" cy="3308814"/>
          </a:xfrm>
          <a:prstGeom prst="rect">
            <a:avLst/>
          </a:prstGeom>
        </p:spPr>
      </p:pic>
      <p:sp>
        <p:nvSpPr>
          <p:cNvPr id="8" name="texto-83"/>
          <p:cNvSpPr txBox="1"/>
          <p:nvPr/>
        </p:nvSpPr>
        <p:spPr>
          <a:xfrm>
            <a:off x="5669280" y="5366214"/>
            <a:ext cx="2804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Mouse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Clic, doble clic, clic derecho con dos dedos, arrastrar y desplazar.</a:t>
            </a:r>
            <a:endParaRPr lang="en-US" sz="1600" dirty="0"/>
          </a:p>
        </p:txBody>
      </p:sp>
      <p:sp>
        <p:nvSpPr>
          <p:cNvPr id="9" name="texto-84"/>
          <p:cNvSpPr txBox="1"/>
          <p:nvPr/>
        </p:nvSpPr>
        <p:spPr>
          <a:xfrm>
            <a:off x="8747608" y="5366214"/>
            <a:ext cx="2804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Teclado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Escribe en vivo y usa Esc, Tab, flechas, borrar e Intro.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82512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389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BENEFICIOS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68096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Por qué usar Mando</a:t>
            </a:r>
            <a:endParaRPr lang="en-US" sz="3600" dirty="0"/>
          </a:p>
        </p:txBody>
      </p:sp>
      <p:sp>
        <p:nvSpPr>
          <p:cNvPr id="4" name="tarjeta-85"/>
          <p:cNvSpPr/>
          <p:nvPr/>
        </p:nvSpPr>
        <p:spPr>
          <a:xfrm>
            <a:off x="640080" y="1783080"/>
            <a:ext cx="3429914" cy="201168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5" name="icono-fondo-86"/>
          <p:cNvSpPr/>
          <p:nvPr/>
        </p:nvSpPr>
        <p:spPr>
          <a:xfrm>
            <a:off x="932688" y="2075688"/>
            <a:ext cx="566928" cy="566928"/>
          </a:xfrm>
          <a:prstGeom prst="roundRect">
            <a:avLst>
              <a:gd name="adj" fmla="val 26000"/>
            </a:avLst>
          </a:prstGeom>
          <a:solidFill>
            <a:schemeClr val="tx1"/>
          </a:solidFill>
          <a:ln/>
        </p:spPr>
      </p:sp>
      <p:pic>
        <p:nvPicPr>
          <p:cNvPr id="6" name="icono-LuQrCode-8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751" y="2211751"/>
            <a:ext cx="294803" cy="294803"/>
          </a:xfrm>
          <a:prstGeom prst="rect">
            <a:avLst/>
          </a:prstGeom>
        </p:spPr>
      </p:pic>
      <p:sp>
        <p:nvSpPr>
          <p:cNvPr id="7" name="texto-88"/>
          <p:cNvSpPr txBox="1"/>
          <p:nvPr/>
        </p:nvSpPr>
        <p:spPr>
          <a:xfrm>
            <a:off x="932688" y="2807208"/>
            <a:ext cx="28446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Sin instalar nada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El QR abre el control en el navegador; no hay apps ni cuentas.</a:t>
            </a:r>
            <a:endParaRPr lang="en-US" sz="1700" dirty="0"/>
          </a:p>
        </p:txBody>
      </p:sp>
      <p:sp>
        <p:nvSpPr>
          <p:cNvPr id="8" name="tarjeta-89"/>
          <p:cNvSpPr/>
          <p:nvPr/>
        </p:nvSpPr>
        <p:spPr>
          <a:xfrm>
            <a:off x="4380890" y="1783080"/>
            <a:ext cx="3429914" cy="201168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9" name="icono-fondo-90"/>
          <p:cNvSpPr/>
          <p:nvPr/>
        </p:nvSpPr>
        <p:spPr>
          <a:xfrm>
            <a:off x="4673498" y="2075688"/>
            <a:ext cx="566928" cy="566928"/>
          </a:xfrm>
          <a:prstGeom prst="roundRect">
            <a:avLst>
              <a:gd name="adj" fmla="val 26000"/>
            </a:avLst>
          </a:prstGeom>
          <a:solidFill>
            <a:schemeClr val="tx1"/>
          </a:solidFill>
          <a:ln/>
        </p:spPr>
      </p:sp>
      <p:pic>
        <p:nvPicPr>
          <p:cNvPr id="10" name="icono-LuWallet-9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9561" y="2211751"/>
            <a:ext cx="294803" cy="294803"/>
          </a:xfrm>
          <a:prstGeom prst="rect">
            <a:avLst/>
          </a:prstGeom>
        </p:spPr>
      </p:pic>
      <p:sp>
        <p:nvSpPr>
          <p:cNvPr id="11" name="texto-92"/>
          <p:cNvSpPr txBox="1"/>
          <p:nvPr/>
        </p:nvSpPr>
        <p:spPr>
          <a:xfrm>
            <a:off x="4673498" y="2807208"/>
            <a:ext cx="28446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Gratis, sin hardware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No necesitas comprar un control remoto, pilas ni receptores.</a:t>
            </a:r>
            <a:endParaRPr lang="en-US" sz="1700" dirty="0"/>
          </a:p>
        </p:txBody>
      </p:sp>
      <p:sp>
        <p:nvSpPr>
          <p:cNvPr id="12" name="tarjeta-93"/>
          <p:cNvSpPr/>
          <p:nvPr/>
        </p:nvSpPr>
        <p:spPr>
          <a:xfrm>
            <a:off x="8121701" y="1783080"/>
            <a:ext cx="3429914" cy="201168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3" name="icono-fondo-94"/>
          <p:cNvSpPr/>
          <p:nvPr/>
        </p:nvSpPr>
        <p:spPr>
          <a:xfrm>
            <a:off x="8414309" y="2075688"/>
            <a:ext cx="566928" cy="566928"/>
          </a:xfrm>
          <a:prstGeom prst="roundRect">
            <a:avLst>
              <a:gd name="adj" fmla="val 26000"/>
            </a:avLst>
          </a:prstGeom>
          <a:solidFill>
            <a:schemeClr val="tx1"/>
          </a:solidFill>
          <a:ln/>
        </p:spPr>
      </p:sp>
      <p:pic>
        <p:nvPicPr>
          <p:cNvPr id="14" name="icono-LuMove-95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0372" y="2211751"/>
            <a:ext cx="294803" cy="294803"/>
          </a:xfrm>
          <a:prstGeom prst="rect">
            <a:avLst/>
          </a:prstGeom>
        </p:spPr>
      </p:pic>
      <p:sp>
        <p:nvSpPr>
          <p:cNvPr id="15" name="texto-96"/>
          <p:cNvSpPr txBox="1"/>
          <p:nvPr/>
        </p:nvSpPr>
        <p:spPr>
          <a:xfrm>
            <a:off x="8414309" y="2807208"/>
            <a:ext cx="28446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Libertad de movimiento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Presenta desde cualquier punto de la sala, mirando al público.</a:t>
            </a:r>
            <a:endParaRPr lang="en-US" sz="1700" dirty="0"/>
          </a:p>
        </p:txBody>
      </p:sp>
      <p:sp>
        <p:nvSpPr>
          <p:cNvPr id="16" name="tarjeta-97"/>
          <p:cNvSpPr/>
          <p:nvPr/>
        </p:nvSpPr>
        <p:spPr>
          <a:xfrm>
            <a:off x="640080" y="3995928"/>
            <a:ext cx="3429914" cy="201168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17" name="icono-fondo-98"/>
          <p:cNvSpPr/>
          <p:nvPr/>
        </p:nvSpPr>
        <p:spPr>
          <a:xfrm>
            <a:off x="932688" y="4288536"/>
            <a:ext cx="566928" cy="566928"/>
          </a:xfrm>
          <a:prstGeom prst="roundRect">
            <a:avLst>
              <a:gd name="adj" fmla="val 26000"/>
            </a:avLst>
          </a:prstGeom>
          <a:solidFill>
            <a:schemeClr val="tx1"/>
          </a:solidFill>
          <a:ln/>
        </p:spPr>
      </p:sp>
      <p:pic>
        <p:nvPicPr>
          <p:cNvPr id="18" name="icono-LuMonitorSmartphone-99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751" y="4424599"/>
            <a:ext cx="294803" cy="294803"/>
          </a:xfrm>
          <a:prstGeom prst="rect">
            <a:avLst/>
          </a:prstGeom>
        </p:spPr>
      </p:pic>
      <p:sp>
        <p:nvSpPr>
          <p:cNvPr id="19" name="texto-100"/>
          <p:cNvSpPr txBox="1"/>
          <p:nvPr/>
        </p:nvSpPr>
        <p:spPr>
          <a:xfrm>
            <a:off x="932688" y="5020056"/>
            <a:ext cx="28446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Láser que siempre se ve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Funciona en proyectores, televisores y pantallas LED.</a:t>
            </a:r>
            <a:endParaRPr lang="en-US" sz="1700" dirty="0"/>
          </a:p>
        </p:txBody>
      </p:sp>
      <p:sp>
        <p:nvSpPr>
          <p:cNvPr id="20" name="tarjeta-101"/>
          <p:cNvSpPr/>
          <p:nvPr/>
        </p:nvSpPr>
        <p:spPr>
          <a:xfrm>
            <a:off x="4380890" y="3995928"/>
            <a:ext cx="3429914" cy="201168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21" name="icono-fondo-102"/>
          <p:cNvSpPr/>
          <p:nvPr/>
        </p:nvSpPr>
        <p:spPr>
          <a:xfrm>
            <a:off x="4673498" y="4288536"/>
            <a:ext cx="566928" cy="566928"/>
          </a:xfrm>
          <a:prstGeom prst="roundRect">
            <a:avLst>
              <a:gd name="adj" fmla="val 26000"/>
            </a:avLst>
          </a:prstGeom>
          <a:solidFill>
            <a:schemeClr val="tx1"/>
          </a:solidFill>
          <a:ln/>
        </p:spPr>
      </p:sp>
      <p:pic>
        <p:nvPicPr>
          <p:cNvPr id="22" name="icono-LuLayers-10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9561" y="4424599"/>
            <a:ext cx="294803" cy="294803"/>
          </a:xfrm>
          <a:prstGeom prst="rect">
            <a:avLst/>
          </a:prstGeom>
        </p:spPr>
      </p:pic>
      <p:sp>
        <p:nvSpPr>
          <p:cNvPr id="23" name="texto-104"/>
          <p:cNvSpPr txBox="1"/>
          <p:nvPr/>
        </p:nvSpPr>
        <p:spPr>
          <a:xfrm>
            <a:off x="4673498" y="5020056"/>
            <a:ext cx="28446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Todo en uno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Control, láser, foco, lápiz, mouse y teclado en una sola app.</a:t>
            </a:r>
            <a:endParaRPr lang="en-US" sz="1700" dirty="0"/>
          </a:p>
        </p:txBody>
      </p:sp>
      <p:sp>
        <p:nvSpPr>
          <p:cNvPr id="24" name="tarjeta-105"/>
          <p:cNvSpPr/>
          <p:nvPr/>
        </p:nvSpPr>
        <p:spPr>
          <a:xfrm>
            <a:off x="8121701" y="3995928"/>
            <a:ext cx="3429914" cy="201168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</p:sp>
      <p:sp>
        <p:nvSpPr>
          <p:cNvPr id="25" name="icono-fondo-106"/>
          <p:cNvSpPr/>
          <p:nvPr/>
        </p:nvSpPr>
        <p:spPr>
          <a:xfrm>
            <a:off x="8414309" y="4288536"/>
            <a:ext cx="566928" cy="566928"/>
          </a:xfrm>
          <a:prstGeom prst="roundRect">
            <a:avLst>
              <a:gd name="adj" fmla="val 26000"/>
            </a:avLst>
          </a:prstGeom>
          <a:solidFill>
            <a:schemeClr val="tx1"/>
          </a:solidFill>
          <a:ln/>
        </p:spPr>
      </p:sp>
      <p:pic>
        <p:nvPicPr>
          <p:cNvPr id="26" name="icono-LuShieldCheck-107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0372" y="4424599"/>
            <a:ext cx="294803" cy="294803"/>
          </a:xfrm>
          <a:prstGeom prst="rect">
            <a:avLst/>
          </a:prstGeom>
        </p:spPr>
      </p:pic>
      <p:sp>
        <p:nvSpPr>
          <p:cNvPr id="27" name="texto-108"/>
          <p:cNvSpPr txBox="1"/>
          <p:nvPr/>
        </p:nvSpPr>
        <p:spPr>
          <a:xfrm>
            <a:off x="8414309" y="5020056"/>
            <a:ext cx="28446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Privado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Sin anuncios ni recopilación de datos; conexión cifrada.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82512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389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COMPATIBILIDAD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68096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Funciona con las herramientas que ya usas</a:t>
            </a:r>
            <a:endParaRPr lang="en-US" sz="3600" dirty="0"/>
          </a:p>
        </p:txBody>
      </p:sp>
      <p:sp>
        <p:nvSpPr>
          <p:cNvPr id="4" name="icono-fondo-109"/>
          <p:cNvSpPr/>
          <p:nvPr/>
        </p:nvSpPr>
        <p:spPr>
          <a:xfrm>
            <a:off x="640080" y="1783080"/>
            <a:ext cx="502920" cy="502920"/>
          </a:xfrm>
          <a:prstGeom prst="roundRect">
            <a:avLst>
              <a:gd name="adj" fmla="val 26000"/>
            </a:avLst>
          </a:prstGeom>
          <a:solidFill>
            <a:schemeClr val="tx1"/>
          </a:solidFill>
          <a:ln/>
        </p:spPr>
      </p:sp>
      <p:pic>
        <p:nvPicPr>
          <p:cNvPr id="5" name="icono-LuPresentation-11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1903781"/>
            <a:ext cx="261518" cy="261518"/>
          </a:xfrm>
          <a:prstGeom prst="rect">
            <a:avLst/>
          </a:prstGeom>
        </p:spPr>
      </p:pic>
      <p:sp>
        <p:nvSpPr>
          <p:cNvPr id="6" name="presentaciones"/>
          <p:cNvSpPr txBox="1"/>
          <p:nvPr/>
        </p:nvSpPr>
        <p:spPr>
          <a:xfrm>
            <a:off x="1325880" y="17830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Presentaciones</a:t>
            </a:r>
            <a:endParaRPr lang="en-US" sz="1800" dirty="0"/>
          </a:p>
        </p:txBody>
      </p:sp>
      <p:sp>
        <p:nvSpPr>
          <p:cNvPr id="7" name="chip-111"/>
          <p:cNvSpPr/>
          <p:nvPr/>
        </p:nvSpPr>
        <p:spPr>
          <a:xfrm>
            <a:off x="640080" y="2560320"/>
            <a:ext cx="1915668" cy="43891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pic>
        <p:nvPicPr>
          <p:cNvPr id="8" name="verificado-112" descr="Verifica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" y="2670048"/>
            <a:ext cx="219456" cy="219456"/>
          </a:xfrm>
          <a:prstGeom prst="rect">
            <a:avLst/>
          </a:prstGeom>
        </p:spPr>
      </p:pic>
      <p:sp>
        <p:nvSpPr>
          <p:cNvPr id="9" name="chip-texto-113"/>
          <p:cNvSpPr txBox="1"/>
          <p:nvPr/>
        </p:nvSpPr>
        <p:spPr>
          <a:xfrm>
            <a:off x="1097280" y="2560320"/>
            <a:ext cx="13670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Google Slides</a:t>
            </a:r>
            <a:endParaRPr lang="en-US" sz="1400" dirty="0"/>
          </a:p>
        </p:txBody>
      </p:sp>
      <p:sp>
        <p:nvSpPr>
          <p:cNvPr id="10" name="chip-114"/>
          <p:cNvSpPr/>
          <p:nvPr/>
        </p:nvSpPr>
        <p:spPr>
          <a:xfrm>
            <a:off x="2683764" y="2560320"/>
            <a:ext cx="1531620" cy="43891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pic>
        <p:nvPicPr>
          <p:cNvPr id="11" name="verificado-115" descr="Verificad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0068" y="2670048"/>
            <a:ext cx="219456" cy="219456"/>
          </a:xfrm>
          <a:prstGeom prst="rect">
            <a:avLst/>
          </a:prstGeom>
        </p:spPr>
      </p:pic>
      <p:sp>
        <p:nvSpPr>
          <p:cNvPr id="12" name="chip-texto-116"/>
          <p:cNvSpPr txBox="1"/>
          <p:nvPr/>
        </p:nvSpPr>
        <p:spPr>
          <a:xfrm>
            <a:off x="3140964" y="2560320"/>
            <a:ext cx="9829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reveal.js</a:t>
            </a:r>
            <a:endParaRPr lang="en-US" sz="1400" dirty="0"/>
          </a:p>
        </p:txBody>
      </p:sp>
      <p:sp>
        <p:nvSpPr>
          <p:cNvPr id="13" name="chip-117"/>
          <p:cNvSpPr/>
          <p:nvPr/>
        </p:nvSpPr>
        <p:spPr>
          <a:xfrm>
            <a:off x="640080" y="3127248"/>
            <a:ext cx="2478024" cy="43891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4" name="chip-texto-118"/>
          <p:cNvSpPr txBox="1"/>
          <p:nvPr/>
        </p:nvSpPr>
        <p:spPr>
          <a:xfrm>
            <a:off x="822960" y="3127248"/>
            <a:ext cx="22037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PowerPoint para la web</a:t>
            </a:r>
            <a:endParaRPr lang="en-US" sz="1400" dirty="0"/>
          </a:p>
        </p:txBody>
      </p:sp>
      <p:sp>
        <p:nvSpPr>
          <p:cNvPr id="15" name="chip-119"/>
          <p:cNvSpPr/>
          <p:nvPr/>
        </p:nvSpPr>
        <p:spPr>
          <a:xfrm>
            <a:off x="3246120" y="3127248"/>
            <a:ext cx="845820" cy="43891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6" name="chip-texto-120"/>
          <p:cNvSpPr txBox="1"/>
          <p:nvPr/>
        </p:nvSpPr>
        <p:spPr>
          <a:xfrm>
            <a:off x="3429000" y="3127248"/>
            <a:ext cx="5715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Canva</a:t>
            </a:r>
            <a:endParaRPr lang="en-US" sz="1400" dirty="0"/>
          </a:p>
        </p:txBody>
      </p:sp>
      <p:sp>
        <p:nvSpPr>
          <p:cNvPr id="17" name="chip-121"/>
          <p:cNvSpPr/>
          <p:nvPr/>
        </p:nvSpPr>
        <p:spPr>
          <a:xfrm>
            <a:off x="4219956" y="3127248"/>
            <a:ext cx="845820" cy="43891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18" name="chip-texto-122"/>
          <p:cNvSpPr txBox="1"/>
          <p:nvPr/>
        </p:nvSpPr>
        <p:spPr>
          <a:xfrm>
            <a:off x="4402836" y="3127248"/>
            <a:ext cx="5715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Pitch</a:t>
            </a:r>
            <a:endParaRPr lang="en-US" sz="1400" dirty="0"/>
          </a:p>
        </p:txBody>
      </p:sp>
      <p:sp>
        <p:nvSpPr>
          <p:cNvPr id="19" name="chip-123"/>
          <p:cNvSpPr/>
          <p:nvPr/>
        </p:nvSpPr>
        <p:spPr>
          <a:xfrm>
            <a:off x="640080" y="3694176"/>
            <a:ext cx="1517904" cy="43891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0" name="chip-texto-124"/>
          <p:cNvSpPr txBox="1"/>
          <p:nvPr/>
        </p:nvSpPr>
        <p:spPr>
          <a:xfrm>
            <a:off x="822960" y="3694176"/>
            <a:ext cx="124358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Figma Slides</a:t>
            </a:r>
            <a:endParaRPr lang="en-US" sz="1400" dirty="0"/>
          </a:p>
        </p:txBody>
      </p:sp>
      <p:sp>
        <p:nvSpPr>
          <p:cNvPr id="21" name="chip-125"/>
          <p:cNvSpPr/>
          <p:nvPr/>
        </p:nvSpPr>
        <p:spPr>
          <a:xfrm>
            <a:off x="2286000" y="3694176"/>
            <a:ext cx="845820" cy="43891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2" name="chip-texto-126"/>
          <p:cNvSpPr txBox="1"/>
          <p:nvPr/>
        </p:nvSpPr>
        <p:spPr>
          <a:xfrm>
            <a:off x="2468880" y="3694176"/>
            <a:ext cx="5715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Gamma</a:t>
            </a:r>
            <a:endParaRPr lang="en-US" sz="1400" dirty="0"/>
          </a:p>
        </p:txBody>
      </p:sp>
      <p:sp>
        <p:nvSpPr>
          <p:cNvPr id="23" name="chip-127"/>
          <p:cNvSpPr/>
          <p:nvPr/>
        </p:nvSpPr>
        <p:spPr>
          <a:xfrm>
            <a:off x="3259836" y="3694176"/>
            <a:ext cx="845820" cy="43891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4" name="chip-texto-128"/>
          <p:cNvSpPr txBox="1"/>
          <p:nvPr/>
        </p:nvSpPr>
        <p:spPr>
          <a:xfrm>
            <a:off x="3442716" y="3694176"/>
            <a:ext cx="5715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Prezi</a:t>
            </a:r>
            <a:endParaRPr lang="en-US" sz="1400" dirty="0"/>
          </a:p>
        </p:txBody>
      </p:sp>
      <p:sp>
        <p:nvSpPr>
          <p:cNvPr id="25" name="chip-129"/>
          <p:cNvSpPr/>
          <p:nvPr/>
        </p:nvSpPr>
        <p:spPr>
          <a:xfrm>
            <a:off x="4233672" y="3694176"/>
            <a:ext cx="1997964" cy="43891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6" name="chip-texto-130"/>
          <p:cNvSpPr txBox="1"/>
          <p:nvPr/>
        </p:nvSpPr>
        <p:spPr>
          <a:xfrm>
            <a:off x="4416552" y="3694176"/>
            <a:ext cx="17236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Keynote en iCloud</a:t>
            </a:r>
            <a:endParaRPr lang="en-US" sz="1400" dirty="0"/>
          </a:p>
        </p:txBody>
      </p:sp>
      <p:sp>
        <p:nvSpPr>
          <p:cNvPr id="27" name="chip-131"/>
          <p:cNvSpPr/>
          <p:nvPr/>
        </p:nvSpPr>
        <p:spPr>
          <a:xfrm>
            <a:off x="640080" y="4261104"/>
            <a:ext cx="1133856" cy="43891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</p:sp>
      <p:sp>
        <p:nvSpPr>
          <p:cNvPr id="28" name="chip-texto-132"/>
          <p:cNvSpPr txBox="1"/>
          <p:nvPr/>
        </p:nvSpPr>
        <p:spPr>
          <a:xfrm>
            <a:off x="822960" y="4261104"/>
            <a:ext cx="85953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Genially</a:t>
            </a:r>
            <a:endParaRPr lang="en-US" sz="1400" dirty="0"/>
          </a:p>
        </p:txBody>
      </p:sp>
      <p:pic>
        <p:nvPicPr>
          <p:cNvPr id="29" name="leyenda-check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065776"/>
            <a:ext cx="219456" cy="219456"/>
          </a:xfrm>
          <a:prstGeom prst="rect">
            <a:avLst/>
          </a:prstGeom>
        </p:spPr>
      </p:pic>
      <p:sp>
        <p:nvSpPr>
          <p:cNvPr id="30" name="leyenda"/>
          <p:cNvSpPr txBox="1"/>
          <p:nvPr/>
        </p:nvSpPr>
        <p:spPr>
          <a:xfrm>
            <a:off x="960120" y="5038344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Verificado con presentaciones reales. Además, cualquier página que avance con el teclado.</a:t>
            </a:r>
            <a:endParaRPr lang="en-US" sz="1400" dirty="0"/>
          </a:p>
        </p:txBody>
      </p:sp>
      <p:sp>
        <p:nvSpPr>
          <p:cNvPr id="31" name="tarjeta-133"/>
          <p:cNvSpPr/>
          <p:nvPr/>
        </p:nvSpPr>
        <p:spPr>
          <a:xfrm>
            <a:off x="7086600" y="1783080"/>
            <a:ext cx="4465015" cy="4251960"/>
          </a:xfrm>
          <a:prstGeom prst="roundRect">
            <a:avLst>
              <a:gd name="adj" fmla="val 3441"/>
            </a:avLst>
          </a:prstGeom>
          <a:solidFill>
            <a:schemeClr val="bg2"/>
          </a:solidFill>
          <a:ln/>
        </p:spPr>
      </p:sp>
      <p:sp>
        <p:nvSpPr>
          <p:cNvPr id="32" name="dispositivos"/>
          <p:cNvSpPr txBox="1"/>
          <p:nvPr/>
        </p:nvSpPr>
        <p:spPr>
          <a:xfrm>
            <a:off x="7406640" y="2011680"/>
            <a:ext cx="382493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Dispositivos</a:t>
            </a:r>
            <a:endParaRPr lang="en-US" sz="1800" dirty="0"/>
          </a:p>
        </p:txBody>
      </p:sp>
      <p:sp>
        <p:nvSpPr>
          <p:cNvPr id="33" name="icono-fondo-134"/>
          <p:cNvSpPr/>
          <p:nvPr/>
        </p:nvSpPr>
        <p:spPr>
          <a:xfrm>
            <a:off x="7406640" y="2651760"/>
            <a:ext cx="502920" cy="502920"/>
          </a:xfrm>
          <a:prstGeom prst="roundRect">
            <a:avLst>
              <a:gd name="adj" fmla="val 26000"/>
            </a:avLst>
          </a:prstGeom>
          <a:solidFill>
            <a:schemeClr val="tx1"/>
          </a:solidFill>
          <a:ln/>
        </p:spPr>
      </p:sp>
      <p:pic>
        <p:nvPicPr>
          <p:cNvPr id="34" name="icono-LuSmartphone-13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7341" y="2772461"/>
            <a:ext cx="261518" cy="261518"/>
          </a:xfrm>
          <a:prstGeom prst="rect">
            <a:avLst/>
          </a:prstGeom>
        </p:spPr>
      </p:pic>
      <p:sp>
        <p:nvSpPr>
          <p:cNvPr id="35" name="texto-136"/>
          <p:cNvSpPr txBox="1"/>
          <p:nvPr/>
        </p:nvSpPr>
        <p:spPr>
          <a:xfrm>
            <a:off x="8092440" y="2624328"/>
            <a:ext cx="31391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Celulares iPhone y Android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Desde pantallas de 320 px, en vertical u horizontal.</a:t>
            </a:r>
            <a:endParaRPr lang="en-US" sz="1600" dirty="0"/>
          </a:p>
        </p:txBody>
      </p:sp>
      <p:sp>
        <p:nvSpPr>
          <p:cNvPr id="36" name="icono-fondo-137"/>
          <p:cNvSpPr/>
          <p:nvPr/>
        </p:nvSpPr>
        <p:spPr>
          <a:xfrm>
            <a:off x="7406640" y="3749040"/>
            <a:ext cx="502920" cy="502920"/>
          </a:xfrm>
          <a:prstGeom prst="roundRect">
            <a:avLst>
              <a:gd name="adj" fmla="val 26000"/>
            </a:avLst>
          </a:prstGeom>
          <a:solidFill>
            <a:schemeClr val="tx1"/>
          </a:solidFill>
          <a:ln/>
        </p:spPr>
      </p:sp>
      <p:pic>
        <p:nvPicPr>
          <p:cNvPr id="37" name="icono-LuMonitorSmartphone-138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27341" y="3869741"/>
            <a:ext cx="261518" cy="261518"/>
          </a:xfrm>
          <a:prstGeom prst="rect">
            <a:avLst/>
          </a:prstGeom>
        </p:spPr>
      </p:pic>
      <p:sp>
        <p:nvSpPr>
          <p:cNvPr id="38" name="texto-139"/>
          <p:cNvSpPr txBox="1"/>
          <p:nvPr/>
        </p:nvSpPr>
        <p:spPr>
          <a:xfrm>
            <a:off x="8092440" y="3721608"/>
            <a:ext cx="31391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Tablets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iPad y Android, con la interfaz centrada.</a:t>
            </a:r>
            <a:endParaRPr lang="en-US" sz="1600" dirty="0"/>
          </a:p>
        </p:txBody>
      </p:sp>
      <p:sp>
        <p:nvSpPr>
          <p:cNvPr id="39" name="icono-fondo-140"/>
          <p:cNvSpPr/>
          <p:nvPr/>
        </p:nvSpPr>
        <p:spPr>
          <a:xfrm>
            <a:off x="7406640" y="4846320"/>
            <a:ext cx="502920" cy="502920"/>
          </a:xfrm>
          <a:prstGeom prst="roundRect">
            <a:avLst>
              <a:gd name="adj" fmla="val 26000"/>
            </a:avLst>
          </a:prstGeom>
          <a:solidFill>
            <a:schemeClr val="tx1"/>
          </a:solidFill>
          <a:ln/>
        </p:spPr>
      </p:sp>
      <p:pic>
        <p:nvPicPr>
          <p:cNvPr id="40" name="icono-LuLaptop-141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27341" y="4967021"/>
            <a:ext cx="261518" cy="261518"/>
          </a:xfrm>
          <a:prstGeom prst="rect">
            <a:avLst/>
          </a:prstGeom>
        </p:spPr>
      </p:pic>
      <p:sp>
        <p:nvSpPr>
          <p:cNvPr id="41" name="texto-142"/>
          <p:cNvSpPr txBox="1"/>
          <p:nvPr/>
        </p:nvSpPr>
        <p:spPr>
          <a:xfrm>
            <a:off x="8092440" y="4818888"/>
            <a:ext cx="31391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Computadora con Google Chrome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Versión 116 o superior en Windows, Mac, Linux y ChromeOS.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82512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389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CÓMO FUNCIONA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68096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Una conexión directa y cifrada</a:t>
            </a:r>
            <a:endParaRPr lang="en-US" sz="3600" dirty="0"/>
          </a:p>
        </p:txBody>
      </p:sp>
      <p:sp>
        <p:nvSpPr>
          <p:cNvPr id="4" name="tarjeta-143"/>
          <p:cNvSpPr/>
          <p:nvPr/>
        </p:nvSpPr>
        <p:spPr>
          <a:xfrm>
            <a:off x="4541368" y="1783080"/>
            <a:ext cx="3108960" cy="960120"/>
          </a:xfrm>
          <a:prstGeom prst="roundRect">
            <a:avLst>
              <a:gd name="adj" fmla="val 15238"/>
            </a:avLst>
          </a:prstGeom>
          <a:solidFill>
            <a:schemeClr val="bg2"/>
          </a:solidFill>
          <a:ln/>
        </p:spPr>
      </p:sp>
      <p:sp>
        <p:nvSpPr>
          <p:cNvPr id="5" name="icono-fondo-144"/>
          <p:cNvSpPr/>
          <p:nvPr/>
        </p:nvSpPr>
        <p:spPr>
          <a:xfrm>
            <a:off x="4769968" y="2002536"/>
            <a:ext cx="502920" cy="502920"/>
          </a:xfrm>
          <a:prstGeom prst="roundRect">
            <a:avLst>
              <a:gd name="adj" fmla="val 26000"/>
            </a:avLst>
          </a:prstGeom>
          <a:solidFill>
            <a:schemeClr val="accent6"/>
          </a:solidFill>
          <a:ln/>
        </p:spPr>
      </p:sp>
      <p:pic>
        <p:nvPicPr>
          <p:cNvPr id="6" name="icono-LuServer-14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90668" y="2123237"/>
            <a:ext cx="261518" cy="261518"/>
          </a:xfrm>
          <a:prstGeom prst="rect">
            <a:avLst/>
          </a:prstGeom>
        </p:spPr>
      </p:pic>
      <p:sp>
        <p:nvSpPr>
          <p:cNvPr id="7" name="texto-146"/>
          <p:cNvSpPr txBox="1"/>
          <p:nvPr/>
        </p:nvSpPr>
        <p:spPr>
          <a:xfrm>
            <a:off x="5410048" y="1938528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tx1"/>
                </a:solidFill>
              </a:rPr>
              <a:t>Servidor de señalización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Solo para el enlace inicial</a:t>
            </a:r>
            <a:endParaRPr lang="en-US" sz="1500" dirty="0"/>
          </a:p>
        </p:txBody>
      </p:sp>
      <p:sp>
        <p:nvSpPr>
          <p:cNvPr id="8" name="senal-izq"/>
          <p:cNvSpPr/>
          <p:nvPr/>
        </p:nvSpPr>
        <p:spPr>
          <a:xfrm>
            <a:off x="3474720" y="2263140"/>
            <a:ext cx="1066648" cy="0"/>
          </a:xfrm>
          <a:prstGeom prst="line">
            <a:avLst/>
          </a:prstGeom>
          <a:noFill/>
          <a:ln w="19050">
            <a:solidFill>
              <a:srgbClr val="8E8E93"/>
            </a:solidFill>
            <a:prstDash val="dash"/>
          </a:ln>
        </p:spPr>
      </p:sp>
      <p:sp>
        <p:nvSpPr>
          <p:cNvPr id="9" name="senal-izq-v"/>
          <p:cNvSpPr/>
          <p:nvPr/>
        </p:nvSpPr>
        <p:spPr>
          <a:xfrm>
            <a:off x="3474720" y="2263140"/>
            <a:ext cx="0" cy="708660"/>
          </a:xfrm>
          <a:prstGeom prst="line">
            <a:avLst/>
          </a:prstGeom>
          <a:noFill/>
          <a:ln w="19050">
            <a:solidFill>
              <a:srgbClr val="8E8E93"/>
            </a:solidFill>
            <a:prstDash val="dash"/>
          </a:ln>
        </p:spPr>
      </p:sp>
      <p:sp>
        <p:nvSpPr>
          <p:cNvPr id="10" name="senal-der"/>
          <p:cNvSpPr/>
          <p:nvPr/>
        </p:nvSpPr>
        <p:spPr>
          <a:xfrm>
            <a:off x="7650328" y="2263140"/>
            <a:ext cx="1066648" cy="0"/>
          </a:xfrm>
          <a:prstGeom prst="line">
            <a:avLst/>
          </a:prstGeom>
          <a:noFill/>
          <a:ln w="19050">
            <a:solidFill>
              <a:srgbClr val="8E8E93"/>
            </a:solidFill>
            <a:prstDash val="dash"/>
          </a:ln>
        </p:spPr>
      </p:sp>
      <p:sp>
        <p:nvSpPr>
          <p:cNvPr id="11" name="senal-der-v"/>
          <p:cNvSpPr/>
          <p:nvPr/>
        </p:nvSpPr>
        <p:spPr>
          <a:xfrm>
            <a:off x="8716975" y="2263140"/>
            <a:ext cx="0" cy="708660"/>
          </a:xfrm>
          <a:prstGeom prst="line">
            <a:avLst/>
          </a:prstGeom>
          <a:noFill/>
          <a:ln w="19050">
            <a:solidFill>
              <a:srgbClr val="8E8E93"/>
            </a:solidFill>
            <a:prstDash val="dash"/>
          </a:ln>
        </p:spPr>
      </p:sp>
      <p:sp>
        <p:nvSpPr>
          <p:cNvPr id="12" name="tarjeta-147"/>
          <p:cNvSpPr/>
          <p:nvPr/>
        </p:nvSpPr>
        <p:spPr>
          <a:xfrm>
            <a:off x="822960" y="2971800"/>
            <a:ext cx="3017520" cy="1600200"/>
          </a:xfrm>
          <a:prstGeom prst="roundRect">
            <a:avLst>
              <a:gd name="adj" fmla="val 9143"/>
            </a:avLst>
          </a:prstGeom>
          <a:solidFill>
            <a:schemeClr val="bg2"/>
          </a:solidFill>
          <a:ln/>
        </p:spPr>
      </p:sp>
      <p:sp>
        <p:nvSpPr>
          <p:cNvPr id="13" name="icono-fondo-148"/>
          <p:cNvSpPr/>
          <p:nvPr/>
        </p:nvSpPr>
        <p:spPr>
          <a:xfrm>
            <a:off x="1097280" y="3246120"/>
            <a:ext cx="566928" cy="566928"/>
          </a:xfrm>
          <a:prstGeom prst="roundRect">
            <a:avLst>
              <a:gd name="adj" fmla="val 26000"/>
            </a:avLst>
          </a:prstGeom>
          <a:solidFill>
            <a:schemeClr val="tx1"/>
          </a:solidFill>
          <a:ln/>
        </p:spPr>
      </p:sp>
      <p:pic>
        <p:nvPicPr>
          <p:cNvPr id="14" name="icono-LuSmartphone-149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343" y="3382183"/>
            <a:ext cx="294803" cy="294803"/>
          </a:xfrm>
          <a:prstGeom prst="rect">
            <a:avLst/>
          </a:prstGeom>
        </p:spPr>
      </p:pic>
      <p:sp>
        <p:nvSpPr>
          <p:cNvPr id="15" name="texto-150"/>
          <p:cNvSpPr txBox="1"/>
          <p:nvPr/>
        </p:nvSpPr>
        <p:spPr>
          <a:xfrm>
            <a:off x="1828800" y="3227832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Celular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Control web en el navegador, sin instalar apps.</a:t>
            </a:r>
            <a:endParaRPr lang="en-US" sz="1700" dirty="0"/>
          </a:p>
        </p:txBody>
      </p:sp>
      <p:sp>
        <p:nvSpPr>
          <p:cNvPr id="16" name="tarjeta-151"/>
          <p:cNvSpPr/>
          <p:nvPr/>
        </p:nvSpPr>
        <p:spPr>
          <a:xfrm>
            <a:off x="8351215" y="2971800"/>
            <a:ext cx="3017520" cy="1600200"/>
          </a:xfrm>
          <a:prstGeom prst="roundRect">
            <a:avLst>
              <a:gd name="adj" fmla="val 9143"/>
            </a:avLst>
          </a:prstGeom>
          <a:solidFill>
            <a:schemeClr val="bg2"/>
          </a:solidFill>
          <a:ln/>
        </p:spPr>
      </p:sp>
      <p:sp>
        <p:nvSpPr>
          <p:cNvPr id="17" name="icono-fondo-152"/>
          <p:cNvSpPr/>
          <p:nvPr/>
        </p:nvSpPr>
        <p:spPr>
          <a:xfrm>
            <a:off x="8625535" y="3246120"/>
            <a:ext cx="566928" cy="566928"/>
          </a:xfrm>
          <a:prstGeom prst="roundRect">
            <a:avLst>
              <a:gd name="adj" fmla="val 26000"/>
            </a:avLst>
          </a:prstGeom>
          <a:solidFill>
            <a:schemeClr val="tx1"/>
          </a:solidFill>
          <a:ln/>
        </p:spPr>
      </p:sp>
      <p:pic>
        <p:nvPicPr>
          <p:cNvPr id="18" name="icono-LuLaptop-15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1598" y="3382183"/>
            <a:ext cx="294803" cy="294803"/>
          </a:xfrm>
          <a:prstGeom prst="rect">
            <a:avLst/>
          </a:prstGeom>
        </p:spPr>
      </p:pic>
      <p:sp>
        <p:nvSpPr>
          <p:cNvPr id="19" name="texto-154"/>
          <p:cNvSpPr txBox="1"/>
          <p:nvPr/>
        </p:nvSpPr>
        <p:spPr>
          <a:xfrm>
            <a:off x="9357055" y="3227832"/>
            <a:ext cx="1783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Computadora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Google Chrome con la extensión Mando.</a:t>
            </a:r>
            <a:endParaRPr lang="en-US" sz="1700" dirty="0"/>
          </a:p>
        </p:txBody>
      </p:sp>
      <p:sp>
        <p:nvSpPr>
          <p:cNvPr id="20" name="enlace-directo"/>
          <p:cNvSpPr/>
          <p:nvPr/>
        </p:nvSpPr>
        <p:spPr>
          <a:xfrm>
            <a:off x="3977640" y="3771900"/>
            <a:ext cx="4236415" cy="0"/>
          </a:xfrm>
          <a:prstGeom prst="line">
            <a:avLst/>
          </a:prstGeom>
          <a:noFill/>
          <a:ln w="38100">
            <a:solidFill>
              <a:srgbClr val="FF3B30"/>
            </a:solidFill>
            <a:prstDash val="solid"/>
            <a:headEnd type="triangle"/>
            <a:tailEnd type="triangle"/>
          </a:ln>
        </p:spPr>
      </p:sp>
      <p:sp>
        <p:nvSpPr>
          <p:cNvPr id="21" name="enlace-texto"/>
          <p:cNvSpPr txBox="1"/>
          <p:nvPr/>
        </p:nvSpPr>
        <p:spPr>
          <a:xfrm>
            <a:off x="4114800" y="3881628"/>
            <a:ext cx="39620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WebRTC cifrado de punto a punto</a:t>
            </a:r>
            <a:endParaRPr lang="en-US" sz="1500" dirty="0"/>
          </a:p>
          <a:p>
            <a:pPr algn="ctr"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Si la red lo bloquea, pasa cifrado por Cloudflare</a:t>
            </a:r>
            <a:endParaRPr lang="en-US" sz="1500" dirty="0"/>
          </a:p>
        </p:txBody>
      </p:sp>
      <p:sp>
        <p:nvSpPr>
          <p:cNvPr id="22" name="paso-155"/>
          <p:cNvSpPr/>
          <p:nvPr/>
        </p:nvSpPr>
        <p:spPr>
          <a:xfrm>
            <a:off x="640080" y="52578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paso-n-156"/>
          <p:cNvSpPr txBox="1"/>
          <p:nvPr/>
        </p:nvSpPr>
        <p:spPr>
          <a:xfrm>
            <a:off x="640080" y="5257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24" name="paso-texto-157"/>
          <p:cNvSpPr txBox="1"/>
          <p:nvPr/>
        </p:nvSpPr>
        <p:spPr>
          <a:xfrm>
            <a:off x="1188720" y="5230368"/>
            <a:ext cx="28812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QR lleva un identificador y una clave secreta.</a:t>
            </a:r>
            <a:endParaRPr lang="en-US" sz="1400" dirty="0"/>
          </a:p>
        </p:txBody>
      </p:sp>
      <p:sp>
        <p:nvSpPr>
          <p:cNvPr id="25" name="paso-158"/>
          <p:cNvSpPr/>
          <p:nvPr/>
        </p:nvSpPr>
        <p:spPr>
          <a:xfrm>
            <a:off x="4380890" y="52578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6" name="paso-n-159"/>
          <p:cNvSpPr txBox="1"/>
          <p:nvPr/>
        </p:nvSpPr>
        <p:spPr>
          <a:xfrm>
            <a:off x="4380890" y="5257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27" name="paso-texto-160"/>
          <p:cNvSpPr txBox="1"/>
          <p:nvPr/>
        </p:nvSpPr>
        <p:spPr>
          <a:xfrm>
            <a:off x="4929530" y="5230368"/>
            <a:ext cx="28812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El servidor presenta a los dos dispositivos.</a:t>
            </a:r>
            <a:endParaRPr lang="en-US" sz="1400" dirty="0"/>
          </a:p>
        </p:txBody>
      </p:sp>
      <p:sp>
        <p:nvSpPr>
          <p:cNvPr id="28" name="paso-161"/>
          <p:cNvSpPr/>
          <p:nvPr/>
        </p:nvSpPr>
        <p:spPr>
          <a:xfrm>
            <a:off x="8121701" y="5257800"/>
            <a:ext cx="411480" cy="41148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paso-n-162"/>
          <p:cNvSpPr txBox="1"/>
          <p:nvPr/>
        </p:nvSpPr>
        <p:spPr>
          <a:xfrm>
            <a:off x="8121701" y="5257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30" name="paso-texto-163"/>
          <p:cNvSpPr txBox="1"/>
          <p:nvPr/>
        </p:nvSpPr>
        <p:spPr>
          <a:xfrm>
            <a:off x="8670341" y="5230368"/>
            <a:ext cx="288127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Los comandos viajan directo y cifrados.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82512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389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SEGURIDAD Y PRIVACIDAD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68096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Tus presentaciones siguen siendo tuyas</a:t>
            </a:r>
            <a:endParaRPr lang="en-US" sz="3600" dirty="0"/>
          </a:p>
        </p:txBody>
      </p:sp>
      <p:sp>
        <p:nvSpPr>
          <p:cNvPr id="4" name="icono-fondo-164"/>
          <p:cNvSpPr/>
          <p:nvPr/>
        </p:nvSpPr>
        <p:spPr>
          <a:xfrm>
            <a:off x="640080" y="1828800"/>
            <a:ext cx="566928" cy="566928"/>
          </a:xfrm>
          <a:prstGeom prst="roundRect">
            <a:avLst>
              <a:gd name="adj" fmla="val 26000"/>
            </a:avLst>
          </a:prstGeom>
          <a:solidFill>
            <a:schemeClr val="tx2"/>
          </a:solidFill>
          <a:ln/>
        </p:spPr>
      </p:sp>
      <p:pic>
        <p:nvPicPr>
          <p:cNvPr id="5" name="icono-LuLock-165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143" y="1964863"/>
            <a:ext cx="294803" cy="294803"/>
          </a:xfrm>
          <a:prstGeom prst="rect">
            <a:avLst/>
          </a:prstGeom>
        </p:spPr>
      </p:pic>
      <p:sp>
        <p:nvSpPr>
          <p:cNvPr id="6" name="texto-166"/>
          <p:cNvSpPr txBox="1"/>
          <p:nvPr/>
        </p:nvSpPr>
        <p:spPr>
          <a:xfrm>
            <a:off x="1463040" y="1801368"/>
            <a:ext cx="4358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Cifrado de extremo a extremo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Los comandos viajan cifrados directamente entre tus dispositivos.</a:t>
            </a:r>
            <a:endParaRPr lang="en-US" sz="1700" dirty="0"/>
          </a:p>
        </p:txBody>
      </p:sp>
      <p:sp>
        <p:nvSpPr>
          <p:cNvPr id="7" name="icono-fondo-167"/>
          <p:cNvSpPr/>
          <p:nvPr/>
        </p:nvSpPr>
        <p:spPr>
          <a:xfrm>
            <a:off x="6370168" y="1828800"/>
            <a:ext cx="566928" cy="566928"/>
          </a:xfrm>
          <a:prstGeom prst="roundRect">
            <a:avLst>
              <a:gd name="adj" fmla="val 26000"/>
            </a:avLst>
          </a:prstGeom>
          <a:solidFill>
            <a:schemeClr val="tx2"/>
          </a:solidFill>
          <a:ln/>
        </p:spPr>
      </p:sp>
      <p:pic>
        <p:nvPicPr>
          <p:cNvPr id="8" name="icono-LuPower-168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6230" y="1964863"/>
            <a:ext cx="294803" cy="294803"/>
          </a:xfrm>
          <a:prstGeom prst="rect">
            <a:avLst/>
          </a:prstGeom>
        </p:spPr>
      </p:pic>
      <p:sp>
        <p:nvSpPr>
          <p:cNvPr id="9" name="texto-169"/>
          <p:cNvSpPr txBox="1"/>
          <p:nvPr/>
        </p:nvSpPr>
        <p:spPr>
          <a:xfrm>
            <a:off x="7193128" y="1801368"/>
            <a:ext cx="4358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Activo solo durante la sesión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Los scripts de Mando se retiran de Chrome al detener la sesión.</a:t>
            </a:r>
            <a:endParaRPr lang="en-US" sz="1700" dirty="0"/>
          </a:p>
        </p:txBody>
      </p:sp>
      <p:sp>
        <p:nvSpPr>
          <p:cNvPr id="10" name="icono-fondo-170"/>
          <p:cNvSpPr/>
          <p:nvPr/>
        </p:nvSpPr>
        <p:spPr>
          <a:xfrm>
            <a:off x="640080" y="3200400"/>
            <a:ext cx="566928" cy="566928"/>
          </a:xfrm>
          <a:prstGeom prst="roundRect">
            <a:avLst>
              <a:gd name="adj" fmla="val 26000"/>
            </a:avLst>
          </a:prstGeom>
          <a:solidFill>
            <a:schemeClr val="tx2"/>
          </a:solidFill>
          <a:ln/>
        </p:spPr>
      </p:sp>
      <p:pic>
        <p:nvPicPr>
          <p:cNvPr id="11" name="icono-LuKeyRound-17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43" y="3336463"/>
            <a:ext cx="294803" cy="294803"/>
          </a:xfrm>
          <a:prstGeom prst="rect">
            <a:avLst/>
          </a:prstGeom>
        </p:spPr>
      </p:pic>
      <p:sp>
        <p:nvSpPr>
          <p:cNvPr id="12" name="texto-172"/>
          <p:cNvSpPr txBox="1"/>
          <p:nvPr/>
        </p:nvSpPr>
        <p:spPr>
          <a:xfrm>
            <a:off x="1463040" y="3172968"/>
            <a:ext cx="4358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La clave nunca sale del QR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Va en una parte de la dirección que el navegador no envía.</a:t>
            </a:r>
            <a:endParaRPr lang="en-US" sz="1700" dirty="0"/>
          </a:p>
        </p:txBody>
      </p:sp>
      <p:sp>
        <p:nvSpPr>
          <p:cNvPr id="13" name="icono-fondo-173"/>
          <p:cNvSpPr/>
          <p:nvPr/>
        </p:nvSpPr>
        <p:spPr>
          <a:xfrm>
            <a:off x="6370168" y="3200400"/>
            <a:ext cx="566928" cy="566928"/>
          </a:xfrm>
          <a:prstGeom prst="roundRect">
            <a:avLst>
              <a:gd name="adj" fmla="val 26000"/>
            </a:avLst>
          </a:prstGeom>
          <a:solidFill>
            <a:schemeClr val="tx2"/>
          </a:solidFill>
          <a:ln/>
        </p:spPr>
      </p:sp>
      <p:pic>
        <p:nvPicPr>
          <p:cNvPr id="14" name="icono-LuEyeOff-17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6230" y="3336463"/>
            <a:ext cx="294803" cy="294803"/>
          </a:xfrm>
          <a:prstGeom prst="rect">
            <a:avLst/>
          </a:prstGeom>
        </p:spPr>
      </p:pic>
      <p:sp>
        <p:nvSpPr>
          <p:cNvPr id="15" name="texto-175"/>
          <p:cNvSpPr txBox="1"/>
          <p:nvPr/>
        </p:nvSpPr>
        <p:spPr>
          <a:xfrm>
            <a:off x="7193128" y="3172968"/>
            <a:ext cx="4358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Sin cuentas ni datos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No hay registro, anuncios, analítica ni base de datos.</a:t>
            </a:r>
            <a:endParaRPr lang="en-US" sz="1700" dirty="0"/>
          </a:p>
        </p:txBody>
      </p:sp>
      <p:sp>
        <p:nvSpPr>
          <p:cNvPr id="16" name="icono-fondo-176"/>
          <p:cNvSpPr/>
          <p:nvPr/>
        </p:nvSpPr>
        <p:spPr>
          <a:xfrm>
            <a:off x="640080" y="4572000"/>
            <a:ext cx="566928" cy="566928"/>
          </a:xfrm>
          <a:prstGeom prst="roundRect">
            <a:avLst>
              <a:gd name="adj" fmla="val 26000"/>
            </a:avLst>
          </a:prstGeom>
          <a:solidFill>
            <a:schemeClr val="tx2"/>
          </a:solidFill>
          <a:ln/>
        </p:spPr>
      </p:sp>
      <p:pic>
        <p:nvPicPr>
          <p:cNvPr id="17" name="icono-LuRefreshCw-177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143" y="4708063"/>
            <a:ext cx="294803" cy="294803"/>
          </a:xfrm>
          <a:prstGeom prst="rect">
            <a:avLst/>
          </a:prstGeom>
        </p:spPr>
      </p:pic>
      <p:sp>
        <p:nvSpPr>
          <p:cNvPr id="18" name="texto-178"/>
          <p:cNvSpPr txBox="1"/>
          <p:nvPr/>
        </p:nvSpPr>
        <p:spPr>
          <a:xfrm>
            <a:off x="1463040" y="4544568"/>
            <a:ext cx="4358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Código nuevo en cada sesión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El QR cambia en cada sesión y puedes renovarlo cuando quieras.</a:t>
            </a:r>
            <a:endParaRPr lang="en-US" sz="1700" dirty="0"/>
          </a:p>
        </p:txBody>
      </p:sp>
      <p:sp>
        <p:nvSpPr>
          <p:cNvPr id="19" name="icono-fondo-179"/>
          <p:cNvSpPr/>
          <p:nvPr/>
        </p:nvSpPr>
        <p:spPr>
          <a:xfrm>
            <a:off x="6370168" y="4572000"/>
            <a:ext cx="566928" cy="566928"/>
          </a:xfrm>
          <a:prstGeom prst="roundRect">
            <a:avLst>
              <a:gd name="adj" fmla="val 26000"/>
            </a:avLst>
          </a:prstGeom>
          <a:solidFill>
            <a:schemeClr val="tx2"/>
          </a:solidFill>
          <a:ln/>
        </p:spPr>
      </p:sp>
      <p:pic>
        <p:nvPicPr>
          <p:cNvPr id="20" name="icono-LuGithub-180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6230" y="4708063"/>
            <a:ext cx="294803" cy="294803"/>
          </a:xfrm>
          <a:prstGeom prst="rect">
            <a:avLst/>
          </a:prstGeom>
        </p:spPr>
      </p:pic>
      <p:sp>
        <p:nvSpPr>
          <p:cNvPr id="21" name="texto-181"/>
          <p:cNvSpPr txBox="1"/>
          <p:nvPr/>
        </p:nvSpPr>
        <p:spPr>
          <a:xfrm>
            <a:off x="7193128" y="4544568"/>
            <a:ext cx="435848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Código público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Todo el código está publicado en GitHub para revisarlo.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82512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389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CALIDAD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68096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Probado de principio a fin</a:t>
            </a:r>
            <a:endParaRPr lang="en-US" sz="3600" dirty="0"/>
          </a:p>
        </p:txBody>
      </p:sp>
      <p:sp>
        <p:nvSpPr>
          <p:cNvPr id="4" name="cifra-182"/>
          <p:cNvSpPr txBox="1"/>
          <p:nvPr/>
        </p:nvSpPr>
        <p:spPr>
          <a:xfrm>
            <a:off x="640080" y="1828800"/>
            <a:ext cx="252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42/42</a:t>
            </a:r>
            <a:endParaRPr lang="en-US" sz="5400" dirty="0"/>
          </a:p>
        </p:txBody>
      </p:sp>
      <p:sp>
        <p:nvSpPr>
          <p:cNvPr id="5" name="texto-183"/>
          <p:cNvSpPr txBox="1"/>
          <p:nvPr/>
        </p:nvSpPr>
        <p:spPr>
          <a:xfrm>
            <a:off x="640080" y="2880360"/>
            <a:ext cx="23392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Pruebas automáticas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Extensión y celular conectados de verdad.</a:t>
            </a:r>
            <a:endParaRPr lang="en-US" sz="1700" dirty="0"/>
          </a:p>
        </p:txBody>
      </p:sp>
      <p:sp>
        <p:nvSpPr>
          <p:cNvPr id="6" name="cifra-184"/>
          <p:cNvSpPr txBox="1"/>
          <p:nvPr/>
        </p:nvSpPr>
        <p:spPr>
          <a:xfrm>
            <a:off x="3436544" y="1828800"/>
            <a:ext cx="252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28/28</a:t>
            </a:r>
            <a:endParaRPr lang="en-US" sz="5400" dirty="0"/>
          </a:p>
        </p:txBody>
      </p:sp>
      <p:sp>
        <p:nvSpPr>
          <p:cNvPr id="7" name="texto-185"/>
          <p:cNvSpPr txBox="1"/>
          <p:nvPr/>
        </p:nvSpPr>
        <p:spPr>
          <a:xfrm>
            <a:off x="3436544" y="2880360"/>
            <a:ext cx="23392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Pantallas y vistas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Del celular más pequeño a la tablet, sin errores.</a:t>
            </a:r>
            <a:endParaRPr lang="en-US" sz="1700" dirty="0"/>
          </a:p>
        </p:txBody>
      </p:sp>
      <p:sp>
        <p:nvSpPr>
          <p:cNvPr id="8" name="cifra-186"/>
          <p:cNvSpPr txBox="1"/>
          <p:nvPr/>
        </p:nvSpPr>
        <p:spPr>
          <a:xfrm>
            <a:off x="6233008" y="1828800"/>
            <a:ext cx="252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2,7 s</a:t>
            </a:r>
            <a:endParaRPr lang="en-US" sz="5400" dirty="0"/>
          </a:p>
        </p:txBody>
      </p:sp>
      <p:sp>
        <p:nvSpPr>
          <p:cNvPr id="9" name="texto-187"/>
          <p:cNvSpPr txBox="1"/>
          <p:nvPr/>
        </p:nvSpPr>
        <p:spPr>
          <a:xfrm>
            <a:off x="6233008" y="2880360"/>
            <a:ext cx="23392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Reconexión automática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Si se corta el servidor, sin soltar al celular.</a:t>
            </a:r>
            <a:endParaRPr lang="en-US" sz="1700" dirty="0"/>
          </a:p>
        </p:txBody>
      </p:sp>
      <p:sp>
        <p:nvSpPr>
          <p:cNvPr id="10" name="cifra-188"/>
          <p:cNvSpPr txBox="1"/>
          <p:nvPr/>
        </p:nvSpPr>
        <p:spPr>
          <a:xfrm>
            <a:off x="9029471" y="1828800"/>
            <a:ext cx="252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KB</a:t>
            </a:r>
            <a:endParaRPr lang="en-US" sz="5400" dirty="0"/>
          </a:p>
        </p:txBody>
      </p:sp>
      <p:sp>
        <p:nvSpPr>
          <p:cNvPr id="11" name="texto-189"/>
          <p:cNvSpPr txBox="1"/>
          <p:nvPr/>
        </p:nvSpPr>
        <p:spPr>
          <a:xfrm>
            <a:off x="9029471" y="2880360"/>
            <a:ext cx="23392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1"/>
                </a:solidFill>
              </a:rPr>
              <a:t>Extensión liviana</a:t>
            </a:r>
            <a:endParaRPr lang="en-US" sz="17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Todo el código incluido, sin descargas externas.</a:t>
            </a:r>
            <a:endParaRPr lang="en-US" sz="1700" dirty="0"/>
          </a:p>
        </p:txBody>
      </p:sp>
      <p:sp>
        <p:nvSpPr>
          <p:cNvPr id="12" name="tarjeta-190"/>
          <p:cNvSpPr/>
          <p:nvPr/>
        </p:nvSpPr>
        <p:spPr>
          <a:xfrm>
            <a:off x="640080" y="4480560"/>
            <a:ext cx="10911535" cy="1097280"/>
          </a:xfrm>
          <a:prstGeom prst="roundRect">
            <a:avLst>
              <a:gd name="adj" fmla="val 13333"/>
            </a:avLst>
          </a:prstGeom>
          <a:solidFill>
            <a:schemeClr val="bg2"/>
          </a:solidFill>
          <a:ln/>
        </p:spPr>
      </p:sp>
      <p:pic>
        <p:nvPicPr>
          <p:cNvPr id="13" name="check-19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4754880"/>
            <a:ext cx="347472" cy="347472"/>
          </a:xfrm>
          <a:prstGeom prst="rect">
            <a:avLst/>
          </a:prstGeom>
        </p:spPr>
      </p:pic>
      <p:sp>
        <p:nvSpPr>
          <p:cNvPr id="14" name="texto-192"/>
          <p:cNvSpPr txBox="1"/>
          <p:nvPr/>
        </p:nvSpPr>
        <p:spPr>
          <a:xfrm>
            <a:off x="1508760" y="4690872"/>
            <a:ext cx="449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Verificado con Google Slides y reveal.js reales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Iniciar la presentación, avanzar, retroceder y salir.</a:t>
            </a:r>
            <a:endParaRPr lang="en-US" sz="1600" dirty="0"/>
          </a:p>
        </p:txBody>
      </p:sp>
      <p:pic>
        <p:nvPicPr>
          <p:cNvPr id="15" name="check-193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5888" y="4754880"/>
            <a:ext cx="347472" cy="347472"/>
          </a:xfrm>
          <a:prstGeom prst="rect">
            <a:avLst/>
          </a:prstGeom>
        </p:spPr>
      </p:pic>
      <p:sp>
        <p:nvSpPr>
          <p:cNvPr id="16" name="texto-194"/>
          <p:cNvSpPr txBox="1"/>
          <p:nvPr/>
        </p:nvSpPr>
        <p:spPr>
          <a:xfrm>
            <a:off x="6964528" y="4690872"/>
            <a:ext cx="44956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Código QR fácil de escanear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Se lee correctamente incluso reducido al 30 % de su tamaño.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82512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640080" y="43891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200" kern="0" dirty="0">
                <a:solidFill>
                  <a:schemeClr val="accent1"/>
                </a:solidFill>
              </a:rPr>
              <a:t>HOJA DE RUTA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768096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Límites actuales y próximos pasos</a:t>
            </a:r>
            <a:endParaRPr lang="en-US" sz="3600" dirty="0"/>
          </a:p>
        </p:txBody>
      </p:sp>
      <p:sp>
        <p:nvSpPr>
          <p:cNvPr id="4" name="tarjeta-195"/>
          <p:cNvSpPr/>
          <p:nvPr/>
        </p:nvSpPr>
        <p:spPr>
          <a:xfrm>
            <a:off x="640080" y="1783080"/>
            <a:ext cx="5300320" cy="4297680"/>
          </a:xfrm>
          <a:prstGeom prst="roundRect">
            <a:avLst>
              <a:gd name="adj" fmla="val 3404"/>
            </a:avLst>
          </a:prstGeom>
          <a:solidFill>
            <a:schemeClr val="bg2"/>
          </a:solidFill>
          <a:ln/>
        </p:spPr>
      </p:sp>
      <p:sp>
        <p:nvSpPr>
          <p:cNvPr id="5" name="icono-fondo-196"/>
          <p:cNvSpPr/>
          <p:nvPr/>
        </p:nvSpPr>
        <p:spPr>
          <a:xfrm>
            <a:off x="960120" y="2011680"/>
            <a:ext cx="502920" cy="502920"/>
          </a:xfrm>
          <a:prstGeom prst="roundRect">
            <a:avLst>
              <a:gd name="adj" fmla="val 26000"/>
            </a:avLst>
          </a:prstGeom>
          <a:solidFill>
            <a:schemeClr val="accent6"/>
          </a:solidFill>
          <a:ln/>
        </p:spPr>
      </p:sp>
      <p:pic>
        <p:nvPicPr>
          <p:cNvPr id="6" name="icono-LuTriangleAlert-197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132381"/>
            <a:ext cx="261518" cy="261518"/>
          </a:xfrm>
          <a:prstGeom prst="rect">
            <a:avLst/>
          </a:prstGeom>
        </p:spPr>
      </p:pic>
      <p:sp>
        <p:nvSpPr>
          <p:cNvPr id="7" name="limites"/>
          <p:cNvSpPr txBox="1"/>
          <p:nvPr/>
        </p:nvSpPr>
        <p:spPr>
          <a:xfrm>
            <a:off x="1645920" y="2011680"/>
            <a:ext cx="402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Límites actuales</a:t>
            </a:r>
            <a:endParaRPr lang="en-US" sz="1800" dirty="0"/>
          </a:p>
        </p:txBody>
      </p:sp>
      <p:sp>
        <p:nvSpPr>
          <p:cNvPr id="8" name="punto-198"/>
          <p:cNvSpPr/>
          <p:nvPr/>
        </p:nvSpPr>
        <p:spPr>
          <a:xfrm>
            <a:off x="1024128" y="2880360"/>
            <a:ext cx="128016" cy="128016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9" name="texto-199"/>
          <p:cNvSpPr txBox="1"/>
          <p:nvPr/>
        </p:nvSpPr>
        <p:spPr>
          <a:xfrm>
            <a:off x="1371600" y="2788920"/>
            <a:ext cx="424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Necesita internet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El celular y la computadora se enlazan a través de internet.</a:t>
            </a:r>
            <a:endParaRPr lang="en-US" sz="1600" dirty="0"/>
          </a:p>
        </p:txBody>
      </p:sp>
      <p:sp>
        <p:nvSpPr>
          <p:cNvPr id="10" name="punto-200"/>
          <p:cNvSpPr/>
          <p:nvPr/>
        </p:nvSpPr>
        <p:spPr>
          <a:xfrm>
            <a:off x="1024128" y="3959352"/>
            <a:ext cx="128016" cy="128016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1" name="texto-201"/>
          <p:cNvSpPr txBox="1"/>
          <p:nvPr/>
        </p:nvSpPr>
        <p:spPr>
          <a:xfrm>
            <a:off x="1371600" y="3867912"/>
            <a:ext cx="424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Páginas protegidas de Chrome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No funciona en chrome://, la Chrome Web Store ni el visor de PDF integrado.</a:t>
            </a:r>
            <a:endParaRPr lang="en-US" sz="1600" dirty="0"/>
          </a:p>
        </p:txBody>
      </p:sp>
      <p:sp>
        <p:nvSpPr>
          <p:cNvPr id="12" name="punto-202"/>
          <p:cNvSpPr/>
          <p:nvPr/>
        </p:nvSpPr>
        <p:spPr>
          <a:xfrm>
            <a:off x="1024128" y="5038344"/>
            <a:ext cx="128016" cy="128016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3" name="texto-203"/>
          <p:cNvSpPr txBox="1"/>
          <p:nvPr/>
        </p:nvSpPr>
        <p:spPr>
          <a:xfrm>
            <a:off x="1371600" y="4946904"/>
            <a:ext cx="4248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Fuera del navegador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No controla PowerPoint o Keynote de escritorio ni relojes inteligentes.</a:t>
            </a:r>
            <a:endParaRPr lang="en-US" sz="1600" dirty="0"/>
          </a:p>
        </p:txBody>
      </p:sp>
      <p:sp>
        <p:nvSpPr>
          <p:cNvPr id="14" name="proximos"/>
          <p:cNvSpPr txBox="1"/>
          <p:nvPr/>
        </p:nvSpPr>
        <p:spPr>
          <a:xfrm>
            <a:off x="6251296" y="2011680"/>
            <a:ext cx="530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Avances y próximos pasos</a:t>
            </a:r>
            <a:endParaRPr lang="en-US" sz="1800" dirty="0"/>
          </a:p>
        </p:txBody>
      </p:sp>
      <p:sp>
        <p:nvSpPr>
          <p:cNvPr id="15" name="icono-fondo-204"/>
          <p:cNvSpPr/>
          <p:nvPr/>
        </p:nvSpPr>
        <p:spPr>
          <a:xfrm>
            <a:off x="6251296" y="2743200"/>
            <a:ext cx="502920" cy="502920"/>
          </a:xfrm>
          <a:prstGeom prst="roundRect">
            <a:avLst>
              <a:gd name="adj" fmla="val 26000"/>
            </a:avLst>
          </a:prstGeom>
          <a:solidFill>
            <a:schemeClr val="accent2"/>
          </a:solidFill>
          <a:ln/>
        </p:spPr>
      </p:sp>
      <p:pic>
        <p:nvPicPr>
          <p:cNvPr id="16" name="icono-LuCircleCheck-205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1996" y="2863901"/>
            <a:ext cx="261518" cy="261518"/>
          </a:xfrm>
          <a:prstGeom prst="rect">
            <a:avLst/>
          </a:prstGeom>
        </p:spPr>
      </p:pic>
      <p:sp>
        <p:nvSpPr>
          <p:cNvPr id="17" name="texto-206"/>
          <p:cNvSpPr txBox="1"/>
          <p:nvPr/>
        </p:nvSpPr>
        <p:spPr>
          <a:xfrm>
            <a:off x="6982816" y="2706624"/>
            <a:ext cx="456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Retransmisión con Cloudflare · lista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Funciona en redes restrictivas; gratis hasta 1.000 GB al mes.</a:t>
            </a:r>
            <a:endParaRPr lang="en-US" sz="1600" dirty="0"/>
          </a:p>
        </p:txBody>
      </p:sp>
      <p:sp>
        <p:nvSpPr>
          <p:cNvPr id="18" name="icono-fondo-207"/>
          <p:cNvSpPr/>
          <p:nvPr/>
        </p:nvSpPr>
        <p:spPr>
          <a:xfrm>
            <a:off x="6251296" y="3584448"/>
            <a:ext cx="502920" cy="502920"/>
          </a:xfrm>
          <a:prstGeom prst="roundRect">
            <a:avLst>
              <a:gd name="adj" fmla="val 26000"/>
            </a:avLst>
          </a:prstGeom>
          <a:solidFill>
            <a:schemeClr val="accent2"/>
          </a:solidFill>
          <a:ln/>
        </p:spPr>
      </p:sp>
      <p:pic>
        <p:nvPicPr>
          <p:cNvPr id="19" name="icono-LuCircleCheck-20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1996" y="3705149"/>
            <a:ext cx="261518" cy="261518"/>
          </a:xfrm>
          <a:prstGeom prst="rect">
            <a:avLst/>
          </a:prstGeom>
        </p:spPr>
      </p:pic>
      <p:sp>
        <p:nvSpPr>
          <p:cNvPr id="20" name="texto-209"/>
          <p:cNvSpPr txBox="1"/>
          <p:nvPr/>
        </p:nvSpPr>
        <p:spPr>
          <a:xfrm>
            <a:off x="6982816" y="3547872"/>
            <a:ext cx="456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QR nuevo en cada sesión · listo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Activado por defecto; se puede desactivar en Ajustes.</a:t>
            </a:r>
            <a:endParaRPr lang="en-US" sz="1600" dirty="0"/>
          </a:p>
        </p:txBody>
      </p:sp>
      <p:sp>
        <p:nvSpPr>
          <p:cNvPr id="21" name="icono-fondo-210"/>
          <p:cNvSpPr/>
          <p:nvPr/>
        </p:nvSpPr>
        <p:spPr>
          <a:xfrm>
            <a:off x="6251296" y="4425696"/>
            <a:ext cx="502920" cy="502920"/>
          </a:xfrm>
          <a:prstGeom prst="roundRect">
            <a:avLst>
              <a:gd name="adj" fmla="val 26000"/>
            </a:avLst>
          </a:prstGeom>
          <a:solidFill>
            <a:schemeClr val="accent1"/>
          </a:solidFill>
          <a:ln/>
        </p:spPr>
      </p:sp>
      <p:pic>
        <p:nvPicPr>
          <p:cNvPr id="22" name="icono-LuHourglass-21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1996" y="4546397"/>
            <a:ext cx="261518" cy="261518"/>
          </a:xfrm>
          <a:prstGeom prst="rect">
            <a:avLst/>
          </a:prstGeom>
        </p:spPr>
      </p:pic>
      <p:sp>
        <p:nvSpPr>
          <p:cNvPr id="23" name="texto-212"/>
          <p:cNvSpPr txBox="1"/>
          <p:nvPr/>
        </p:nvSpPr>
        <p:spPr>
          <a:xfrm>
            <a:off x="6982816" y="4389120"/>
            <a:ext cx="456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Chrome Web Store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La versión 1.0 está en revisión; la 1.1 ya está preparada.</a:t>
            </a:r>
            <a:endParaRPr lang="en-US" sz="1600" dirty="0"/>
          </a:p>
        </p:txBody>
      </p:sp>
      <p:sp>
        <p:nvSpPr>
          <p:cNvPr id="24" name="icono-fondo-213"/>
          <p:cNvSpPr/>
          <p:nvPr/>
        </p:nvSpPr>
        <p:spPr>
          <a:xfrm>
            <a:off x="6251296" y="5266944"/>
            <a:ext cx="502920" cy="502920"/>
          </a:xfrm>
          <a:prstGeom prst="roundRect">
            <a:avLst>
              <a:gd name="adj" fmla="val 26000"/>
            </a:avLst>
          </a:prstGeom>
          <a:solidFill>
            <a:schemeClr val="accent1"/>
          </a:solidFill>
          <a:ln/>
        </p:spPr>
      </p:sp>
      <p:pic>
        <p:nvPicPr>
          <p:cNvPr id="25" name="icono-LuWatch-21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1996" y="5387645"/>
            <a:ext cx="261518" cy="261518"/>
          </a:xfrm>
          <a:prstGeom prst="rect">
            <a:avLst/>
          </a:prstGeom>
        </p:spPr>
      </p:pic>
      <p:sp>
        <p:nvSpPr>
          <p:cNvPr id="26" name="texto-215"/>
          <p:cNvSpPr txBox="1"/>
          <p:nvPr/>
        </p:nvSpPr>
        <p:spPr>
          <a:xfrm>
            <a:off x="6982816" y="5230368"/>
            <a:ext cx="456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App para Apple Watch</a:t>
            </a:r>
            <a:endParaRPr lang="en-US" sz="16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Evaluar una app nativa que use el iPhone como puente.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382512"/>
            <a:ext cx="73152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-cierre" descr="Logo de Man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434" y="685800"/>
            <a:ext cx="914400" cy="9144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640080" y="18745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5200" b="1" dirty="0">
                <a:solidFill>
                  <a:schemeClr val="bg1"/>
                </a:solidFill>
              </a:rPr>
              <a:t>Presenta con libertad</a:t>
            </a:r>
            <a:endParaRPr lang="en-US" sz="52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640080" y="292608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Escanea, conecta y presenta desde tu celular.</a:t>
            </a:r>
            <a:endParaRPr lang="en-US" sz="2000" dirty="0"/>
          </a:p>
        </p:txBody>
      </p:sp>
      <p:pic>
        <p:nvPicPr>
          <p:cNvPr id="5" name="enlace-icono-216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3995928"/>
            <a:ext cx="292608" cy="292608"/>
          </a:xfrm>
          <a:prstGeom prst="rect">
            <a:avLst/>
          </a:prstGeom>
        </p:spPr>
      </p:pic>
      <p:sp>
        <p:nvSpPr>
          <p:cNvPr id="6" name="enlace-217"/>
          <p:cNvSpPr txBox="1"/>
          <p:nvPr/>
        </p:nvSpPr>
        <p:spPr>
          <a:xfrm>
            <a:off x="1097280" y="3931920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mjmc4498.github.io/mando</a:t>
            </a:r>
            <a:endParaRPr lang="en-US" sz="1600" dirty="0"/>
          </a:p>
        </p:txBody>
      </p:sp>
      <p:pic>
        <p:nvPicPr>
          <p:cNvPr id="7" name="enlace-icono-218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562856"/>
            <a:ext cx="292608" cy="292608"/>
          </a:xfrm>
          <a:prstGeom prst="rect">
            <a:avLst/>
          </a:prstGeom>
        </p:spPr>
      </p:pic>
      <p:sp>
        <p:nvSpPr>
          <p:cNvPr id="8" name="enlace-219"/>
          <p:cNvSpPr txBox="1"/>
          <p:nvPr/>
        </p:nvSpPr>
        <p:spPr>
          <a:xfrm>
            <a:off x="1097280" y="4498848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github.com/mjmc4498/mando</a:t>
            </a:r>
            <a:endParaRPr lang="en-US" sz="1600" dirty="0"/>
          </a:p>
        </p:txBody>
      </p:sp>
      <p:pic>
        <p:nvPicPr>
          <p:cNvPr id="9" name="enlace-icono-220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5129784"/>
            <a:ext cx="292608" cy="292608"/>
          </a:xfrm>
          <a:prstGeom prst="rect">
            <a:avLst/>
          </a:prstGeom>
        </p:spPr>
      </p:pic>
      <p:sp>
        <p:nvSpPr>
          <p:cNvPr id="10" name="enlace-221"/>
          <p:cNvSpPr txBox="1"/>
          <p:nvPr/>
        </p:nvSpPr>
        <p:spPr>
          <a:xfrm>
            <a:off x="1097280" y="5065776"/>
            <a:ext cx="5486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</a:rPr>
              <a:t>Miguel Mogrovejo</a:t>
            </a:r>
            <a:endParaRPr lang="en-US" sz="1600" dirty="0"/>
          </a:p>
        </p:txBody>
      </p:sp>
      <p:sp>
        <p:nvSpPr>
          <p:cNvPr id="11" name="qr-tarjeta"/>
          <p:cNvSpPr/>
          <p:nvPr/>
        </p:nvSpPr>
        <p:spPr>
          <a:xfrm>
            <a:off x="8458200" y="1783080"/>
            <a:ext cx="3090672" cy="3703320"/>
          </a:xfrm>
          <a:prstGeom prst="roundRect">
            <a:avLst>
              <a:gd name="adj" fmla="val 6509"/>
            </a:avLst>
          </a:prstGeom>
          <a:solidFill>
            <a:schemeClr val="bg1"/>
          </a:solidFill>
          <a:ln/>
        </p:spPr>
      </p:sp>
      <p:pic>
        <p:nvPicPr>
          <p:cNvPr id="12" name="qr" descr="Código QR al repositorio de Mando en GitHub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14816" y="2103120"/>
            <a:ext cx="2377440" cy="2377440"/>
          </a:xfrm>
          <a:prstGeom prst="rect">
            <a:avLst/>
          </a:prstGeom>
        </p:spPr>
      </p:pic>
      <p:sp>
        <p:nvSpPr>
          <p:cNvPr id="13" name="qr-texto"/>
          <p:cNvSpPr txBox="1"/>
          <p:nvPr/>
        </p:nvSpPr>
        <p:spPr>
          <a:xfrm>
            <a:off x="8641080" y="4709160"/>
            <a:ext cx="2724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Escanea para ver el proyecto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-final" descr="Logo de Mand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0314" y="1417320"/>
            <a:ext cx="1143000" cy="11430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822960" y="2788920"/>
            <a:ext cx="49377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6600" b="1" dirty="0">
                <a:solidFill>
                  <a:schemeClr val="bg1"/>
                </a:solidFill>
              </a:rPr>
              <a:t>Gracias</a:t>
            </a:r>
            <a:endParaRPr lang="en-US" sz="6600" dirty="0"/>
          </a:p>
        </p:txBody>
      </p:sp>
      <p:sp>
        <p:nvSpPr>
          <p:cNvPr id="4" name="Text 0"/>
          <p:cNvSpPr/>
          <p:nvPr>
            <p:ph idx="101" type="body" hasCustomPrompt="1"/>
          </p:nvPr>
        </p:nvSpPr>
        <p:spPr>
          <a:xfrm>
            <a:off x="822960" y="397764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5"/>
                </a:solidFill>
              </a:rPr>
              <a:t>¿Preguntas?</a:t>
            </a:r>
            <a:endParaRPr lang="en-US" sz="2000" dirty="0"/>
          </a:p>
        </p:txBody>
      </p:sp>
      <p:sp>
        <p:nvSpPr>
          <p:cNvPr id="5" name="Text 0"/>
          <p:cNvSpPr/>
          <p:nvPr>
            <p:ph idx="102" type="body" hasCustomPrompt="1"/>
          </p:nvPr>
        </p:nvSpPr>
        <p:spPr>
          <a:xfrm>
            <a:off x="822960" y="57607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Miguel Mogrovejo · github.com/mjmc4498/mando</a:t>
            </a:r>
            <a:endParaRPr lang="en-US" sz="1200" dirty="0"/>
          </a:p>
        </p:txBody>
      </p:sp>
      <p:sp>
        <p:nvSpPr>
          <p:cNvPr id="6" name="marco-222"/>
          <p:cNvSpPr/>
          <p:nvPr/>
        </p:nvSpPr>
        <p:spPr>
          <a:xfrm>
            <a:off x="6126480" y="1691640"/>
            <a:ext cx="4754880" cy="2674620"/>
          </a:xfrm>
          <a:prstGeom prst="rect">
            <a:avLst/>
          </a:prstGeom>
          <a:solidFill>
            <a:schemeClr val="bg1"/>
          </a:solidFill>
          <a:ln w="12700">
            <a:solidFill>
              <a:srgbClr val="3A3A3C"/>
            </a:solidFill>
            <a:prstDash val="solid"/>
          </a:ln>
        </p:spPr>
      </p:sp>
      <p:pic>
        <p:nvPicPr>
          <p:cNvPr id="7" name="captura-223" descr="Diapositiva con anotaciones del lápiz de Mand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0" y="1691640"/>
            <a:ext cx="4754880" cy="2674620"/>
          </a:xfrm>
          <a:prstGeom prst="rect">
            <a:avLst/>
          </a:prstGeom>
        </p:spPr>
      </p:pic>
      <p:pic>
        <p:nvPicPr>
          <p:cNvPr id="8" name="celular-224" descr="Pantalla del lápiz en el control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960120"/>
            <a:ext cx="2349142" cy="49377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ando">
  <a:themeElements>
    <a:clrScheme name="Mando">
      <a:dk1>
        <a:srgbClr val="0B0B0C"/>
      </a:dk1>
      <a:lt1>
        <a:srgbClr val="FFFFFF"/>
      </a:lt1>
      <a:dk2>
        <a:srgbClr val="1C1C1E"/>
      </a:dk2>
      <a:lt2>
        <a:srgbClr val="F5F5F7"/>
      </a:lt2>
      <a:accent1>
        <a:srgbClr val="FF3B30"/>
      </a:accent1>
      <a:accent2>
        <a:srgbClr val="34C759"/>
      </a:accent2>
      <a:accent3>
        <a:srgbClr val="0A84FF"/>
      </a:accent3>
      <a:accent4>
        <a:srgbClr val="FFD60A"/>
      </a:accent4>
      <a:accent5>
        <a:srgbClr val="8E8E93"/>
      </a:accent5>
      <a:accent6>
        <a:srgbClr val="6E6E73"/>
      </a:accent6>
      <a:hlink>
        <a:srgbClr val="0A84FF"/>
      </a:hlink>
      <a:folHlink>
        <a:srgbClr val="8E8E93"/>
      </a:folHlink>
    </a:clrScheme>
    <a:fontScheme name="Mando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Mando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Mando — Control remoto de presentaciones</dc:title>
  <dc:subject>Qué es Mando, cómo se usa y qué beneficios ofrece</dc:subject>
  <dc:creator>Miguel Mogrovejo</dc:creator>
  <cp:lastModifiedBy>Miguel Mogrovejo</cp:lastModifiedBy>
  <cp:revision>1</cp:revision>
  <dcterms:created xsi:type="dcterms:W3CDTF">2026-10-15T19:16:31Z</dcterms:created>
  <dcterms:modified xsi:type="dcterms:W3CDTF">2026-10-15T19:16:31Z</dcterms:modified>
</cp:coreProperties>
</file>