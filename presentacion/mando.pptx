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5c25ac77-7568-d370-7954-3341fb984dbc}">
          <p14:sldIdLst>
            <p14:sldId id="256"/>
            <p14:sldId id="257"/>
            <p14:sldId id="258"/>
            <p14:sldId id="259"/>
          </p14:sldIdLst>
        </p14:section>
        <p14:section name="Funciones" id="{0ca03b19-8774-d9e2-38a4-4e37c98ba6a2}">
          <p14:sldIdLst>
            <p14:sldId id="260"/>
            <p14:sldId id="261"/>
            <p14:sldId id="262"/>
          </p14:sldIdLst>
        </p14:section>
        <p14:section name="Valor" id="{480b05e0-8dea-014e-bf79-174b6c827c50}">
          <p14:sldIdLst>
            <p14:sldId id="263"/>
            <p14:sldId id="264"/>
          </p14:sldIdLst>
        </p14:section>
        <p14:section name="Tecnología" id="{81db7a37-642f-0e7d-2d7a-03639b6b71a9}">
          <p14:sldIdLst>
            <p14:sldId id="265"/>
            <p14:sldId id="266"/>
            <p14:sldId id="267"/>
          </p14:sldIdLst>
        </p14:section>
        <p14:section name="Cierre" id="{9c22b923-ec6e-2c16-4db9-c040ef75aea6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Mando es una extensión de Chrome que convierte el celular en el control remoto de cualquier presentación: avanzar diapositivas, puntero láser, lápiz, mouse y teclado. Se conecta escaneando un código QR, sin instalar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Hoy, para cambiar de diapositiva hay que volver a la computadora o comprar un control físico. Los punteros láser físicos casi no se ven en televisores o pantallas LED, y hacer clic o escribir algo obliga a interrumpir la charla.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extensión muestra un código QR. Al escanearlo, el celular abre el control en su navegador: no hay que instalar ninguna app ni crear cuentas. La conexión es directa y cifrada entre el celular y la computadora.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1: abrir la presentación en Chrome. Paso 2: hacer clic en el ícono de Mando o pulsar Alt+Shift+M y escanear el QR con la cámara. Paso 3: presentar desde el celular. El celular recuerda la conexión y se reconecta solo la próxima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pantalla principal tiene un botón grande para avanzar, pensado para usarse con el pulgar, y otro para retroceder. Desde aquí también se inicia la presentación, se activa la pantalla negra y se lleva el tiempo con el cronómetro.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Deslizando el dedo sobre el celular se mueve un láser digital con estela, que se ve bien en televisores y pantallas LED. El modo foco oscurece la pantalla y resalta un círculo; el lápiz permite dibujar en colores sobre la diapositiva. Con el modo aire se apunta moviendo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también funciona como panel táctil: se mueve un cursor sobre la presentación y se hace clic, doble clic, clic derecho o se arrastra. Lo que se escribe en el teclado del celular aparece al instante en la computadora, incluso dentro de PowerPoint para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 principales: no hay que instalar nada, es gratis y no requiere hardware, da libertad de movimiento, el láser digital se ve en cualquier pantalla, reúne todas las herramientas en un solo lugar y respeta la privacidad.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Mando funciona con cualquier presentación que avance con el teclado. Google Slides y reveal.js se verificaron con presentaciones reales. El control funciona en celulares desde 320 píxeles y en tablets; en la computadora se necesita Google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y la computadora se comunican de forma directa mediante WebRTC, cifrado de punto a punto. Un servidor de señalización gratuito solo se usa para que los dos dispositivos se encuentren; después ya no participa. La clave secreta viaja dentro del QR y nunca se envía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seguridad está en el diseño: conexión cifrada de extremo a extremo, la clave secreta solo existe en el QR, los scripts solo están activos mientras hay una sesión, no hay cuentas ni recopilación de datos y un botón permite renovar el código en cualquier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Mando se probó de punta a punta con pruebas automáticas que conectan la extensión y el celular de verdad: 38 de 38 comprobaciones superadas. La interfaz se revisó en 28 combinaciones de pantalla y vista. Si se corta el servidor, se reconecta solo en unos 3 segundos sin desconectar al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hay tres límites conocidos: redes muy restrictivas que bloquean la conexión directa, páginas internas de Chrome donde las extensiones no pueden actuar, y programas fuera del navegador. Los próximos pasos son publicar en la Chrome Web Store, sumar un servidor de retransmisión con Cloudflare, ofrecer un QR nuevo por sesión y evaluar una app para Apple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Mando permite presentar con libertad: escanear, conectar y presentar desde el celular. El código QR de la diapositiva lleva al repositorio en GitHub, donde está todo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493776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977640"/>
            <a:ext cx="4754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Mando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Mando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de M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Mando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977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Controla tus presentaciones desde el celular</a:t>
            </a:r>
            <a:endParaRPr lang="en-US" sz="22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Miguel Mogrovejo · Octubre de 2026</a:t>
            </a:r>
            <a:endParaRPr lang="en-US" sz="1200" dirty="0"/>
          </a:p>
        </p:txBody>
      </p:sp>
      <p:sp>
        <p:nvSpPr>
          <p:cNvPr id="6" name="marco-1"/>
          <p:cNvSpPr/>
          <p:nvPr/>
        </p:nvSpPr>
        <p:spPr>
          <a:xfrm>
            <a:off x="6126480" y="1691640"/>
            <a:ext cx="4754880" cy="2674620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7" name="captura-2" descr="Diapositiva con el puntero láser de M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4754880" cy="2674620"/>
          </a:xfrm>
          <a:prstGeom prst="rect">
            <a:avLst/>
          </a:prstGeom>
        </p:spPr>
      </p:pic>
      <p:pic>
        <p:nvPicPr>
          <p:cNvPr id="8" name="celular-3" descr="Control de Mando en el celul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RETO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Presentar no debería atarte a la computadora</a:t>
            </a:r>
            <a:endParaRPr lang="en-US" sz="3600" dirty="0"/>
          </a:p>
        </p:txBody>
      </p:sp>
      <p:sp>
        <p:nvSpPr>
          <p:cNvPr id="4" name="tarjeta-4"/>
          <p:cNvSpPr/>
          <p:nvPr/>
        </p:nvSpPr>
        <p:spPr>
          <a:xfrm>
            <a:off x="640080" y="1920240"/>
            <a:ext cx="2522144" cy="384048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5" name="icono-fondo-5"/>
          <p:cNvSpPr/>
          <p:nvPr/>
        </p:nvSpPr>
        <p:spPr>
          <a:xfrm>
            <a:off x="960120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Keyboard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404872"/>
            <a:ext cx="356616" cy="356616"/>
          </a:xfrm>
          <a:prstGeom prst="rect">
            <a:avLst/>
          </a:prstGeom>
        </p:spPr>
      </p:pic>
      <p:sp>
        <p:nvSpPr>
          <p:cNvPr id="7" name="texto-7"/>
          <p:cNvSpPr txBox="1"/>
          <p:nvPr/>
        </p:nvSpPr>
        <p:spPr>
          <a:xfrm>
            <a:off x="960120" y="3200400"/>
            <a:ext cx="1882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Atado al teclado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Cada cambio de diapositiva te obliga a volver a la computadora.</a:t>
            </a:r>
            <a:endParaRPr lang="en-US" sz="1800" dirty="0"/>
          </a:p>
        </p:txBody>
      </p:sp>
      <p:sp>
        <p:nvSpPr>
          <p:cNvPr id="8" name="tarjeta-8"/>
          <p:cNvSpPr/>
          <p:nvPr/>
        </p:nvSpPr>
        <p:spPr>
          <a:xfrm>
            <a:off x="3436544" y="1920240"/>
            <a:ext cx="2522144" cy="384048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9" name="icono-fondo-9"/>
          <p:cNvSpPr/>
          <p:nvPr/>
        </p:nvSpPr>
        <p:spPr>
          <a:xfrm>
            <a:off x="3756584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Usb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176" y="2404872"/>
            <a:ext cx="356616" cy="356616"/>
          </a:xfrm>
          <a:prstGeom prst="rect">
            <a:avLst/>
          </a:prstGeom>
        </p:spPr>
      </p:pic>
      <p:sp>
        <p:nvSpPr>
          <p:cNvPr id="11" name="texto-11"/>
          <p:cNvSpPr txBox="1"/>
          <p:nvPr/>
        </p:nvSpPr>
        <p:spPr>
          <a:xfrm>
            <a:off x="3756584" y="3200400"/>
            <a:ext cx="1882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Controles físicos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Cuestan dinero, usan pilas y un receptor USB que se olvida o se pierde.</a:t>
            </a:r>
            <a:endParaRPr lang="en-US" sz="1800" dirty="0"/>
          </a:p>
        </p:txBody>
      </p:sp>
      <p:sp>
        <p:nvSpPr>
          <p:cNvPr id="12" name="tarjeta-12"/>
          <p:cNvSpPr/>
          <p:nvPr/>
        </p:nvSpPr>
        <p:spPr>
          <a:xfrm>
            <a:off x="6233008" y="1920240"/>
            <a:ext cx="2522144" cy="384048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3" name="icono-fondo-13"/>
          <p:cNvSpPr/>
          <p:nvPr/>
        </p:nvSpPr>
        <p:spPr>
          <a:xfrm>
            <a:off x="6553048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Crosshair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404872"/>
            <a:ext cx="356616" cy="356616"/>
          </a:xfrm>
          <a:prstGeom prst="rect">
            <a:avLst/>
          </a:prstGeom>
        </p:spPr>
      </p:pic>
      <p:sp>
        <p:nvSpPr>
          <p:cNvPr id="15" name="texto-15"/>
          <p:cNvSpPr txBox="1"/>
          <p:nvPr/>
        </p:nvSpPr>
        <p:spPr>
          <a:xfrm>
            <a:off x="6553048" y="3200400"/>
            <a:ext cx="1882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Láser que no se ve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láser físico apenas se nota en pantallas LED y televisores.</a:t>
            </a:r>
            <a:endParaRPr lang="en-US" sz="1800" dirty="0"/>
          </a:p>
        </p:txBody>
      </p:sp>
      <p:sp>
        <p:nvSpPr>
          <p:cNvPr id="16" name="tarjeta-16"/>
          <p:cNvSpPr/>
          <p:nvPr/>
        </p:nvSpPr>
        <p:spPr>
          <a:xfrm>
            <a:off x="9029471" y="1920240"/>
            <a:ext cx="2522144" cy="384048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7" name="icono-fondo-17"/>
          <p:cNvSpPr/>
          <p:nvPr/>
        </p:nvSpPr>
        <p:spPr>
          <a:xfrm>
            <a:off x="9349511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usePointerClick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4103" y="2404872"/>
            <a:ext cx="356616" cy="356616"/>
          </a:xfrm>
          <a:prstGeom prst="rect">
            <a:avLst/>
          </a:prstGeom>
        </p:spPr>
      </p:pic>
      <p:sp>
        <p:nvSpPr>
          <p:cNvPr id="19" name="texto-19"/>
          <p:cNvSpPr txBox="1"/>
          <p:nvPr/>
        </p:nvSpPr>
        <p:spPr>
          <a:xfrm>
            <a:off x="9349511" y="3200400"/>
            <a:ext cx="1882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Interrupciones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Hacer clic o escribir algo corta el ritmo de la charla.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Mando convierte tu celular en el control remoto</a:t>
            </a:r>
            <a:endParaRPr lang="en-US" sz="3600" dirty="0"/>
          </a:p>
        </p:txBody>
      </p:sp>
      <p:sp>
        <p:nvSpPr>
          <p:cNvPr id="4" name="resumen"/>
          <p:cNvSpPr txBox="1"/>
          <p:nvPr/>
        </p:nvSpPr>
        <p:spPr>
          <a:xfrm>
            <a:off x="640080" y="17830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Una extensión de Chrome y una página web: escaneas un código QR y tu celular controla la presentación.</a:t>
            </a:r>
            <a:endParaRPr lang="en-US" sz="1800" dirty="0"/>
          </a:p>
        </p:txBody>
      </p:sp>
      <p:sp>
        <p:nvSpPr>
          <p:cNvPr id="5" name="icono-fondo-20"/>
          <p:cNvSpPr/>
          <p:nvPr/>
        </p:nvSpPr>
        <p:spPr>
          <a:xfrm>
            <a:off x="640080" y="288036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6" name="icono-LuQrCode-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3029590"/>
            <a:ext cx="323332" cy="323332"/>
          </a:xfrm>
          <a:prstGeom prst="rect">
            <a:avLst/>
          </a:prstGeom>
        </p:spPr>
      </p:pic>
      <p:sp>
        <p:nvSpPr>
          <p:cNvPr id="7" name="texto-22"/>
          <p:cNvSpPr txBox="1"/>
          <p:nvPr/>
        </p:nvSpPr>
        <p:spPr>
          <a:xfrm>
            <a:off x="1508760" y="286207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 del celular.</a:t>
            </a:r>
            <a:endParaRPr lang="en-US" sz="1700" dirty="0"/>
          </a:p>
        </p:txBody>
      </p:sp>
      <p:sp>
        <p:nvSpPr>
          <p:cNvPr id="8" name="icono-fondo-23"/>
          <p:cNvSpPr/>
          <p:nvPr/>
        </p:nvSpPr>
        <p:spPr>
          <a:xfrm>
            <a:off x="640080" y="393192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9" name="icono-LuLayers-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0" y="4081150"/>
            <a:ext cx="323332" cy="323332"/>
          </a:xfrm>
          <a:prstGeom prst="rect">
            <a:avLst/>
          </a:prstGeom>
        </p:spPr>
      </p:pic>
      <p:sp>
        <p:nvSpPr>
          <p:cNvPr id="10" name="texto-25"/>
          <p:cNvSpPr txBox="1"/>
          <p:nvPr/>
        </p:nvSpPr>
        <p:spPr>
          <a:xfrm>
            <a:off x="1508760" y="391363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Diapositivas, láser, lápiz, mouse y teclado.</a:t>
            </a:r>
            <a:endParaRPr lang="en-US" sz="1700" dirty="0"/>
          </a:p>
        </p:txBody>
      </p:sp>
      <p:sp>
        <p:nvSpPr>
          <p:cNvPr id="11" name="icono-fondo-26"/>
          <p:cNvSpPr/>
          <p:nvPr/>
        </p:nvSpPr>
        <p:spPr>
          <a:xfrm>
            <a:off x="640080" y="498348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2" name="icono-LuShieldCheck-2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10" y="5132710"/>
            <a:ext cx="323332" cy="323332"/>
          </a:xfrm>
          <a:prstGeom prst="rect">
            <a:avLst/>
          </a:prstGeom>
        </p:spPr>
      </p:pic>
      <p:sp>
        <p:nvSpPr>
          <p:cNvPr id="13" name="texto-28"/>
          <p:cNvSpPr txBox="1"/>
          <p:nvPr/>
        </p:nvSpPr>
        <p:spPr>
          <a:xfrm>
            <a:off x="1508760" y="496519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Directo y cifrado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cuentas: los comandos van del celular a la computadora.</a:t>
            </a:r>
            <a:endParaRPr lang="en-US" sz="1700" dirty="0"/>
          </a:p>
        </p:txBody>
      </p:sp>
      <p:sp>
        <p:nvSpPr>
          <p:cNvPr id="14" name="marco-29"/>
          <p:cNvSpPr/>
          <p:nvPr/>
        </p:nvSpPr>
        <p:spPr>
          <a:xfrm>
            <a:off x="6720840" y="1737360"/>
            <a:ext cx="2087445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5" name="captura-30" descr="Panel de la extensión con el código Q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7360"/>
            <a:ext cx="2087445" cy="4297680"/>
          </a:xfrm>
          <a:prstGeom prst="rect">
            <a:avLst/>
          </a:prstGeom>
        </p:spPr>
      </p:pic>
      <p:pic>
        <p:nvPicPr>
          <p:cNvPr id="16" name="flech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2" y="3657600"/>
            <a:ext cx="329184" cy="329184"/>
          </a:xfrm>
          <a:prstGeom prst="rect">
            <a:avLst/>
          </a:prstGeom>
        </p:spPr>
      </p:pic>
      <p:pic>
        <p:nvPicPr>
          <p:cNvPr id="17" name="celular-31" descr="Control en el celul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1600200"/>
            <a:ext cx="2175132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SE USA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Tres pasos y estás presentando</a:t>
            </a:r>
            <a:endParaRPr lang="en-US" sz="3600" dirty="0"/>
          </a:p>
        </p:txBody>
      </p:sp>
      <p:sp>
        <p:nvSpPr>
          <p:cNvPr id="4" name="tarjeta-32"/>
          <p:cNvSpPr/>
          <p:nvPr/>
        </p:nvSpPr>
        <p:spPr>
          <a:xfrm>
            <a:off x="640080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5" name="marco-33"/>
          <p:cNvSpPr/>
          <p:nvPr/>
        </p:nvSpPr>
        <p:spPr>
          <a:xfrm>
            <a:off x="822960" y="2217420"/>
            <a:ext cx="2926080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6" name="captura-34" descr="Presentación abierta en Chr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7420"/>
            <a:ext cx="2926080" cy="1645920"/>
          </a:xfrm>
          <a:prstGeom prst="rect">
            <a:avLst/>
          </a:prstGeom>
        </p:spPr>
      </p:pic>
      <p:sp>
        <p:nvSpPr>
          <p:cNvPr id="7" name="numero-35"/>
          <p:cNvSpPr/>
          <p:nvPr/>
        </p:nvSpPr>
        <p:spPr>
          <a:xfrm>
            <a:off x="640080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8" name="numero-texto-36"/>
          <p:cNvSpPr txBox="1"/>
          <p:nvPr/>
        </p:nvSpPr>
        <p:spPr>
          <a:xfrm>
            <a:off x="64008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o-37"/>
          <p:cNvSpPr txBox="1"/>
          <p:nvPr/>
        </p:nvSpPr>
        <p:spPr>
          <a:xfrm>
            <a:off x="1325880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Abre tu presentación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 Google Slides, PowerPoint web, Canva o cualquier página en Chrome.</a:t>
            </a:r>
            <a:endParaRPr lang="en-US" sz="1800" dirty="0"/>
          </a:p>
        </p:txBody>
      </p:sp>
      <p:pic>
        <p:nvPicPr>
          <p:cNvPr id="10" name="flecha-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044" y="2852928"/>
            <a:ext cx="365760" cy="365760"/>
          </a:xfrm>
          <a:prstGeom prst="rect">
            <a:avLst/>
          </a:prstGeom>
        </p:spPr>
      </p:pic>
      <p:sp>
        <p:nvSpPr>
          <p:cNvPr id="11" name="tarjeta-39"/>
          <p:cNvSpPr/>
          <p:nvPr/>
        </p:nvSpPr>
        <p:spPr>
          <a:xfrm>
            <a:off x="4449928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12" name="marco-40"/>
          <p:cNvSpPr/>
          <p:nvPr/>
        </p:nvSpPr>
        <p:spPr>
          <a:xfrm>
            <a:off x="5551780" y="1920240"/>
            <a:ext cx="1088136" cy="22402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3" name="captura-41" descr="Código QR de Man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80" y="1920240"/>
            <a:ext cx="1088136" cy="2240280"/>
          </a:xfrm>
          <a:prstGeom prst="rect">
            <a:avLst/>
          </a:prstGeom>
        </p:spPr>
      </p:pic>
      <p:sp>
        <p:nvSpPr>
          <p:cNvPr id="14" name="numero-42"/>
          <p:cNvSpPr/>
          <p:nvPr/>
        </p:nvSpPr>
        <p:spPr>
          <a:xfrm>
            <a:off x="4449928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numero-texto-43"/>
          <p:cNvSpPr txBox="1"/>
          <p:nvPr/>
        </p:nvSpPr>
        <p:spPr>
          <a:xfrm>
            <a:off x="4449928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o-44"/>
          <p:cNvSpPr txBox="1"/>
          <p:nvPr/>
        </p:nvSpPr>
        <p:spPr>
          <a:xfrm>
            <a:off x="5135728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Escanea el código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Haz clic en el ícono de Mando (Alt+Shift+M) y apunta la cámara al QR.</a:t>
            </a:r>
            <a:endParaRPr lang="en-US" sz="1800" dirty="0"/>
          </a:p>
        </p:txBody>
      </p:sp>
      <p:pic>
        <p:nvPicPr>
          <p:cNvPr id="17" name="flecha-4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891" y="2852928"/>
            <a:ext cx="365760" cy="365760"/>
          </a:xfrm>
          <a:prstGeom prst="rect">
            <a:avLst/>
          </a:prstGeom>
        </p:spPr>
      </p:pic>
      <p:sp>
        <p:nvSpPr>
          <p:cNvPr id="18" name="tarjeta-46"/>
          <p:cNvSpPr/>
          <p:nvPr/>
        </p:nvSpPr>
        <p:spPr>
          <a:xfrm>
            <a:off x="8259775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pic>
        <p:nvPicPr>
          <p:cNvPr id="19" name="celular-47" descr="Control en el celul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788" y="1920240"/>
            <a:ext cx="1065815" cy="2240280"/>
          </a:xfrm>
          <a:prstGeom prst="rect">
            <a:avLst/>
          </a:prstGeom>
        </p:spPr>
      </p:pic>
      <p:sp>
        <p:nvSpPr>
          <p:cNvPr id="20" name="numero-48"/>
          <p:cNvSpPr/>
          <p:nvPr/>
        </p:nvSpPr>
        <p:spPr>
          <a:xfrm>
            <a:off x="8259775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numero-texto-49"/>
          <p:cNvSpPr txBox="1"/>
          <p:nvPr/>
        </p:nvSpPr>
        <p:spPr>
          <a:xfrm>
            <a:off x="8259775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o-50"/>
          <p:cNvSpPr txBox="1"/>
          <p:nvPr/>
        </p:nvSpPr>
        <p:spPr>
          <a:xfrm>
            <a:off x="8945575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control se abre en el navegador del celular. Avanza, señala o escribe.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DIAPOSITIVAS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Avanza con un toque, desde cualquier lugar</a:t>
            </a:r>
            <a:endParaRPr lang="en-US" sz="3600" dirty="0"/>
          </a:p>
        </p:txBody>
      </p:sp>
      <p:pic>
        <p:nvPicPr>
          <p:cNvPr id="4" name="celular-51" descr="Pantalla de diapositivas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2153380" cy="4526280"/>
          </a:xfrm>
          <a:prstGeom prst="rect">
            <a:avLst/>
          </a:prstGeom>
        </p:spPr>
      </p:pic>
      <p:sp>
        <p:nvSpPr>
          <p:cNvPr id="5" name="icono-fondo-52"/>
          <p:cNvSpPr/>
          <p:nvPr/>
        </p:nvSpPr>
        <p:spPr>
          <a:xfrm>
            <a:off x="3931920" y="178308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ChevronRight-5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94" y="1914754"/>
            <a:ext cx="285293" cy="285293"/>
          </a:xfrm>
          <a:prstGeom prst="rect">
            <a:avLst/>
          </a:prstGeom>
        </p:spPr>
      </p:pic>
      <p:sp>
        <p:nvSpPr>
          <p:cNvPr id="7" name="texto-54"/>
          <p:cNvSpPr txBox="1"/>
          <p:nvPr/>
        </p:nvSpPr>
        <p:spPr>
          <a:xfrm>
            <a:off x="4709160" y="17556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Siguiente y anterior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botón grande para el pulgar; también puedes deslizar el dedo.</a:t>
            </a:r>
            <a:endParaRPr lang="en-US" sz="1700" dirty="0"/>
          </a:p>
        </p:txBody>
      </p:sp>
      <p:sp>
        <p:nvSpPr>
          <p:cNvPr id="8" name="icono-fondo-55"/>
          <p:cNvSpPr/>
          <p:nvPr/>
        </p:nvSpPr>
        <p:spPr>
          <a:xfrm>
            <a:off x="3931920" y="265176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9" name="icono-LuPlay-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594" y="2783434"/>
            <a:ext cx="285293" cy="285293"/>
          </a:xfrm>
          <a:prstGeom prst="rect">
            <a:avLst/>
          </a:prstGeom>
        </p:spPr>
      </p:pic>
      <p:sp>
        <p:nvSpPr>
          <p:cNvPr id="10" name="texto-57"/>
          <p:cNvSpPr txBox="1"/>
          <p:nvPr/>
        </p:nvSpPr>
        <p:spPr>
          <a:xfrm>
            <a:off x="4709160" y="262432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Presentar y salir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Inicia el modo presentación de Google Slides y la pantalla completa.</a:t>
            </a:r>
            <a:endParaRPr lang="en-US" sz="1700" dirty="0"/>
          </a:p>
        </p:txBody>
      </p:sp>
      <p:sp>
        <p:nvSpPr>
          <p:cNvPr id="11" name="icono-fondo-58"/>
          <p:cNvSpPr/>
          <p:nvPr/>
        </p:nvSpPr>
        <p:spPr>
          <a:xfrm>
            <a:off x="3931920" y="352044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2" name="icono-LuSquare-5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594" y="3652114"/>
            <a:ext cx="285293" cy="285293"/>
          </a:xfrm>
          <a:prstGeom prst="rect">
            <a:avLst/>
          </a:prstGeom>
        </p:spPr>
      </p:pic>
      <p:sp>
        <p:nvSpPr>
          <p:cNvPr id="13" name="texto-60"/>
          <p:cNvSpPr txBox="1"/>
          <p:nvPr/>
        </p:nvSpPr>
        <p:spPr>
          <a:xfrm>
            <a:off x="4709160" y="349300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 negra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Oscurece la pantalla para que el público te mire a ti.</a:t>
            </a:r>
            <a:endParaRPr lang="en-US" sz="1700" dirty="0"/>
          </a:p>
        </p:txBody>
      </p:sp>
      <p:sp>
        <p:nvSpPr>
          <p:cNvPr id="14" name="icono-fondo-61"/>
          <p:cNvSpPr/>
          <p:nvPr/>
        </p:nvSpPr>
        <p:spPr>
          <a:xfrm>
            <a:off x="3931920" y="438912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5" name="icono-LuTimer-6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594" y="4520794"/>
            <a:ext cx="285293" cy="285293"/>
          </a:xfrm>
          <a:prstGeom prst="rect">
            <a:avLst/>
          </a:prstGeom>
        </p:spPr>
      </p:pic>
      <p:sp>
        <p:nvSpPr>
          <p:cNvPr id="16" name="texto-63"/>
          <p:cNvSpPr txBox="1"/>
          <p:nvPr/>
        </p:nvSpPr>
        <p:spPr>
          <a:xfrm>
            <a:off x="4709160" y="436168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Cronómetro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Controla el tiempo de tu charla sin mirar la computadora.</a:t>
            </a:r>
            <a:endParaRPr lang="en-US" sz="1700" dirty="0"/>
          </a:p>
        </p:txBody>
      </p:sp>
      <p:sp>
        <p:nvSpPr>
          <p:cNvPr id="17" name="icono-fondo-64"/>
          <p:cNvSpPr/>
          <p:nvPr/>
        </p:nvSpPr>
        <p:spPr>
          <a:xfrm>
            <a:off x="3931920" y="525780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Vibrate-6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594" y="5389474"/>
            <a:ext cx="285293" cy="285293"/>
          </a:xfrm>
          <a:prstGeom prst="rect">
            <a:avLst/>
          </a:prstGeom>
        </p:spPr>
      </p:pic>
      <p:sp>
        <p:nvSpPr>
          <p:cNvPr id="19" name="texto-66"/>
          <p:cNvSpPr txBox="1"/>
          <p:nvPr/>
        </p:nvSpPr>
        <p:spPr>
          <a:xfrm>
            <a:off x="4709160" y="523036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Pensado para el 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Vibra al pulsar y mantiene la pantalla encendida mientras presentas.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PUNTERO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Señala, ilumina y dibuja sobre la diapositiva</a:t>
            </a:r>
            <a:endParaRPr lang="en-US" sz="3600" dirty="0"/>
          </a:p>
        </p:txBody>
      </p:sp>
      <p:sp>
        <p:nvSpPr>
          <p:cNvPr id="4" name="marco-67"/>
          <p:cNvSpPr/>
          <p:nvPr/>
        </p:nvSpPr>
        <p:spPr>
          <a:xfrm>
            <a:off x="64008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5" name="captura-68" descr="Láser con est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429914" cy="1929327"/>
          </a:xfrm>
          <a:prstGeom prst="rect">
            <a:avLst/>
          </a:prstGeom>
        </p:spPr>
      </p:pic>
      <p:sp>
        <p:nvSpPr>
          <p:cNvPr id="6" name="texto-69"/>
          <p:cNvSpPr txBox="1"/>
          <p:nvPr/>
        </p:nvSpPr>
        <p:spPr>
          <a:xfrm>
            <a:off x="64008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Láser con estela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Un punto rojo brillante que se ve en cualquier pantalla, incluso en pantalla completa.</a:t>
            </a:r>
            <a:endParaRPr lang="en-US" sz="1800" dirty="0"/>
          </a:p>
        </p:txBody>
      </p:sp>
      <p:sp>
        <p:nvSpPr>
          <p:cNvPr id="7" name="marco-70"/>
          <p:cNvSpPr/>
          <p:nvPr/>
        </p:nvSpPr>
        <p:spPr>
          <a:xfrm>
            <a:off x="438089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8" name="captura-71" descr="Foco de luz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890" y="1828800"/>
            <a:ext cx="3429914" cy="1929327"/>
          </a:xfrm>
          <a:prstGeom prst="rect">
            <a:avLst/>
          </a:prstGeom>
        </p:spPr>
      </p:pic>
      <p:sp>
        <p:nvSpPr>
          <p:cNvPr id="9" name="texto-72"/>
          <p:cNvSpPr txBox="1"/>
          <p:nvPr/>
        </p:nvSpPr>
        <p:spPr>
          <a:xfrm>
            <a:off x="438089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Foco de luz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Oscurece todo menos el círculo que quieres destacar.</a:t>
            </a:r>
            <a:endParaRPr lang="en-US" sz="1800" dirty="0"/>
          </a:p>
        </p:txBody>
      </p:sp>
      <p:sp>
        <p:nvSpPr>
          <p:cNvPr id="10" name="marco-73"/>
          <p:cNvSpPr/>
          <p:nvPr/>
        </p:nvSpPr>
        <p:spPr>
          <a:xfrm>
            <a:off x="8121701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11" name="captura-74" descr="Lápiz de col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701" y="1828800"/>
            <a:ext cx="3429914" cy="1929327"/>
          </a:xfrm>
          <a:prstGeom prst="rect">
            <a:avLst/>
          </a:prstGeom>
        </p:spPr>
      </p:pic>
      <p:sp>
        <p:nvSpPr>
          <p:cNvPr id="12" name="texto-75"/>
          <p:cNvSpPr txBox="1"/>
          <p:nvPr/>
        </p:nvSpPr>
        <p:spPr>
          <a:xfrm>
            <a:off x="8121701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Lápiz de colores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Encierra, subraya y anota; con deshacer y borrar todo.</a:t>
            </a:r>
            <a:endParaRPr lang="en-US" sz="1800" dirty="0"/>
          </a:p>
        </p:txBody>
      </p:sp>
      <p:sp>
        <p:nvSpPr>
          <p:cNvPr id="13" name="icono-fondo-76"/>
          <p:cNvSpPr/>
          <p:nvPr/>
        </p:nvSpPr>
        <p:spPr>
          <a:xfrm>
            <a:off x="640080" y="54406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4" name="icono-LuSmartphone-7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561381"/>
            <a:ext cx="261518" cy="261518"/>
          </a:xfrm>
          <a:prstGeom prst="rect">
            <a:avLst/>
          </a:prstGeom>
        </p:spPr>
      </p:pic>
      <p:sp>
        <p:nvSpPr>
          <p:cNvPr id="15" name="modo-aire"/>
          <p:cNvSpPr txBox="1"/>
          <p:nvPr/>
        </p:nvSpPr>
        <p:spPr>
          <a:xfrm>
            <a:off x="1371600" y="5440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Modo aire: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apunta moviendo el celular, como un control de verdad (usa el giroscopio).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MOUSE Y TECLADO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 panel táctil y un teclado en tu bolsillo</a:t>
            </a:r>
            <a:endParaRPr lang="en-US" sz="3600" dirty="0"/>
          </a:p>
        </p:txBody>
      </p:sp>
      <p:pic>
        <p:nvPicPr>
          <p:cNvPr id="4" name="celular-78" descr="Panel táctil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2131629" cy="4480560"/>
          </a:xfrm>
          <a:prstGeom prst="rect">
            <a:avLst/>
          </a:prstGeom>
        </p:spPr>
      </p:pic>
      <p:pic>
        <p:nvPicPr>
          <p:cNvPr id="5" name="celular-79" descr="Teclado del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645920"/>
            <a:ext cx="2131629" cy="4480560"/>
          </a:xfrm>
          <a:prstGeom prst="rect">
            <a:avLst/>
          </a:prstGeom>
        </p:spPr>
      </p:pic>
      <p:sp>
        <p:nvSpPr>
          <p:cNvPr id="6" name="marco-80"/>
          <p:cNvSpPr/>
          <p:nvPr/>
        </p:nvSpPr>
        <p:spPr>
          <a:xfrm>
            <a:off x="5669280" y="1737360"/>
            <a:ext cx="5882335" cy="3308814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7" name="captura-81" descr="Cursor remoto sobre la presenta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737360"/>
            <a:ext cx="5882335" cy="3308814"/>
          </a:xfrm>
          <a:prstGeom prst="rect">
            <a:avLst/>
          </a:prstGeom>
        </p:spPr>
      </p:pic>
      <p:sp>
        <p:nvSpPr>
          <p:cNvPr id="8" name="texto-82"/>
          <p:cNvSpPr txBox="1"/>
          <p:nvPr/>
        </p:nvSpPr>
        <p:spPr>
          <a:xfrm>
            <a:off x="5669280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Clic, doble clic, clic derecho con dos dedos, arrastrar y desplazar.</a:t>
            </a:r>
            <a:endParaRPr lang="en-US" sz="1600" dirty="0"/>
          </a:p>
        </p:txBody>
      </p:sp>
      <p:sp>
        <p:nvSpPr>
          <p:cNvPr id="9" name="texto-83"/>
          <p:cNvSpPr txBox="1"/>
          <p:nvPr/>
        </p:nvSpPr>
        <p:spPr>
          <a:xfrm>
            <a:off x="8747608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Teclado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Escribe en vivo y usa Esc, Tab, flechas, borrar e Intro.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BENEFICIOS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Por qué usar Mando</a:t>
            </a:r>
            <a:endParaRPr lang="en-US" sz="3600" dirty="0"/>
          </a:p>
        </p:txBody>
      </p:sp>
      <p:sp>
        <p:nvSpPr>
          <p:cNvPr id="4" name="tarjeta-84"/>
          <p:cNvSpPr/>
          <p:nvPr/>
        </p:nvSpPr>
        <p:spPr>
          <a:xfrm>
            <a:off x="64008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icono-fondo-85"/>
          <p:cNvSpPr/>
          <p:nvPr/>
        </p:nvSpPr>
        <p:spPr>
          <a:xfrm>
            <a:off x="93268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QrCode-8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11751"/>
            <a:ext cx="294803" cy="294803"/>
          </a:xfrm>
          <a:prstGeom prst="rect">
            <a:avLst/>
          </a:prstGeom>
        </p:spPr>
      </p:pic>
      <p:sp>
        <p:nvSpPr>
          <p:cNvPr id="7" name="texto-87"/>
          <p:cNvSpPr txBox="1"/>
          <p:nvPr/>
        </p:nvSpPr>
        <p:spPr>
          <a:xfrm>
            <a:off x="93268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navegador; no hay apps ni cuentas.</a:t>
            </a:r>
            <a:endParaRPr lang="en-US" sz="1700" dirty="0"/>
          </a:p>
        </p:txBody>
      </p:sp>
      <p:sp>
        <p:nvSpPr>
          <p:cNvPr id="8" name="tarjeta-88"/>
          <p:cNvSpPr/>
          <p:nvPr/>
        </p:nvSpPr>
        <p:spPr>
          <a:xfrm>
            <a:off x="438089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icono-fondo-89"/>
          <p:cNvSpPr/>
          <p:nvPr/>
        </p:nvSpPr>
        <p:spPr>
          <a:xfrm>
            <a:off x="467349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Wallet-9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61" y="2211751"/>
            <a:ext cx="294803" cy="294803"/>
          </a:xfrm>
          <a:prstGeom prst="rect">
            <a:avLst/>
          </a:prstGeom>
        </p:spPr>
      </p:pic>
      <p:sp>
        <p:nvSpPr>
          <p:cNvPr id="11" name="texto-91"/>
          <p:cNvSpPr txBox="1"/>
          <p:nvPr/>
        </p:nvSpPr>
        <p:spPr>
          <a:xfrm>
            <a:off x="467349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Gratis, sin hardware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necesitas comprar un control remoto, pilas ni receptores.</a:t>
            </a:r>
            <a:endParaRPr lang="en-US" sz="1700" dirty="0"/>
          </a:p>
        </p:txBody>
      </p:sp>
      <p:sp>
        <p:nvSpPr>
          <p:cNvPr id="12" name="tarjeta-92"/>
          <p:cNvSpPr/>
          <p:nvPr/>
        </p:nvSpPr>
        <p:spPr>
          <a:xfrm>
            <a:off x="8121701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3" name="icono-fondo-93"/>
          <p:cNvSpPr/>
          <p:nvPr/>
        </p:nvSpPr>
        <p:spPr>
          <a:xfrm>
            <a:off x="8414309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Move-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372" y="2211751"/>
            <a:ext cx="294803" cy="294803"/>
          </a:xfrm>
          <a:prstGeom prst="rect">
            <a:avLst/>
          </a:prstGeom>
        </p:spPr>
      </p:pic>
      <p:sp>
        <p:nvSpPr>
          <p:cNvPr id="15" name="texto-95"/>
          <p:cNvSpPr txBox="1"/>
          <p:nvPr/>
        </p:nvSpPr>
        <p:spPr>
          <a:xfrm>
            <a:off x="8414309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Libertad de movimiento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Presenta desde cualquier punto de la sala, mirando al público.</a:t>
            </a:r>
            <a:endParaRPr lang="en-US" sz="1700" dirty="0"/>
          </a:p>
        </p:txBody>
      </p:sp>
      <p:sp>
        <p:nvSpPr>
          <p:cNvPr id="16" name="tarjeta-96"/>
          <p:cNvSpPr/>
          <p:nvPr/>
        </p:nvSpPr>
        <p:spPr>
          <a:xfrm>
            <a:off x="64008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7" name="icono-fondo-97"/>
          <p:cNvSpPr/>
          <p:nvPr/>
        </p:nvSpPr>
        <p:spPr>
          <a:xfrm>
            <a:off x="93268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nitorSmartphone-9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51" y="4424599"/>
            <a:ext cx="294803" cy="294803"/>
          </a:xfrm>
          <a:prstGeom prst="rect">
            <a:avLst/>
          </a:prstGeom>
        </p:spPr>
      </p:pic>
      <p:sp>
        <p:nvSpPr>
          <p:cNvPr id="19" name="texto-99"/>
          <p:cNvSpPr txBox="1"/>
          <p:nvPr/>
        </p:nvSpPr>
        <p:spPr>
          <a:xfrm>
            <a:off x="93268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Láser que siempre se ve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Funciona en proyectores, televisores y pantallas LED.</a:t>
            </a:r>
            <a:endParaRPr lang="en-US" sz="1700" dirty="0"/>
          </a:p>
        </p:txBody>
      </p:sp>
      <p:sp>
        <p:nvSpPr>
          <p:cNvPr id="20" name="tarjeta-100"/>
          <p:cNvSpPr/>
          <p:nvPr/>
        </p:nvSpPr>
        <p:spPr>
          <a:xfrm>
            <a:off x="438089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1" name="icono-fondo-101"/>
          <p:cNvSpPr/>
          <p:nvPr/>
        </p:nvSpPr>
        <p:spPr>
          <a:xfrm>
            <a:off x="467349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2" name="icono-LuLayers-10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561" y="4424599"/>
            <a:ext cx="294803" cy="294803"/>
          </a:xfrm>
          <a:prstGeom prst="rect">
            <a:avLst/>
          </a:prstGeom>
        </p:spPr>
      </p:pic>
      <p:sp>
        <p:nvSpPr>
          <p:cNvPr id="23" name="texto-103"/>
          <p:cNvSpPr txBox="1"/>
          <p:nvPr/>
        </p:nvSpPr>
        <p:spPr>
          <a:xfrm>
            <a:off x="467349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Control, láser, foco, lápiz, mouse y teclado en una sola app.</a:t>
            </a:r>
            <a:endParaRPr lang="en-US" sz="1700" dirty="0"/>
          </a:p>
        </p:txBody>
      </p:sp>
      <p:sp>
        <p:nvSpPr>
          <p:cNvPr id="24" name="tarjeta-104"/>
          <p:cNvSpPr/>
          <p:nvPr/>
        </p:nvSpPr>
        <p:spPr>
          <a:xfrm>
            <a:off x="8121701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5" name="icono-fondo-105"/>
          <p:cNvSpPr/>
          <p:nvPr/>
        </p:nvSpPr>
        <p:spPr>
          <a:xfrm>
            <a:off x="8414309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6" name="icono-LuShieldCheck-10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0372" y="4424599"/>
            <a:ext cx="294803" cy="294803"/>
          </a:xfrm>
          <a:prstGeom prst="rect">
            <a:avLst/>
          </a:prstGeom>
        </p:spPr>
      </p:pic>
      <p:sp>
        <p:nvSpPr>
          <p:cNvPr id="27" name="texto-107"/>
          <p:cNvSpPr txBox="1"/>
          <p:nvPr/>
        </p:nvSpPr>
        <p:spPr>
          <a:xfrm>
            <a:off x="8414309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Privado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anuncios ni recopilación de datos; conexión cifrada.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COMPATIBILIDAD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Funciona con las herramientas que ya usas</a:t>
            </a:r>
            <a:endParaRPr lang="en-US" sz="3600" dirty="0"/>
          </a:p>
        </p:txBody>
      </p:sp>
      <p:sp>
        <p:nvSpPr>
          <p:cNvPr id="4" name="icono-fondo-108"/>
          <p:cNvSpPr/>
          <p:nvPr/>
        </p:nvSpPr>
        <p:spPr>
          <a:xfrm>
            <a:off x="640080" y="17830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5" name="icono-LuPresentation-1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903781"/>
            <a:ext cx="261518" cy="261518"/>
          </a:xfrm>
          <a:prstGeom prst="rect">
            <a:avLst/>
          </a:prstGeom>
        </p:spPr>
      </p:pic>
      <p:sp>
        <p:nvSpPr>
          <p:cNvPr id="6" name="presentaciones"/>
          <p:cNvSpPr txBox="1"/>
          <p:nvPr/>
        </p:nvSpPr>
        <p:spPr>
          <a:xfrm>
            <a:off x="1325880" y="1783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Presentaciones</a:t>
            </a:r>
            <a:endParaRPr lang="en-US" sz="1800" dirty="0"/>
          </a:p>
        </p:txBody>
      </p:sp>
      <p:sp>
        <p:nvSpPr>
          <p:cNvPr id="7" name="chip-110"/>
          <p:cNvSpPr/>
          <p:nvPr/>
        </p:nvSpPr>
        <p:spPr>
          <a:xfrm>
            <a:off x="640080" y="2560320"/>
            <a:ext cx="1915668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8" name="verificado-111" descr="Verific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670048"/>
            <a:ext cx="219456" cy="219456"/>
          </a:xfrm>
          <a:prstGeom prst="rect">
            <a:avLst/>
          </a:prstGeom>
        </p:spPr>
      </p:pic>
      <p:sp>
        <p:nvSpPr>
          <p:cNvPr id="9" name="chip-texto-112"/>
          <p:cNvSpPr txBox="1"/>
          <p:nvPr/>
        </p:nvSpPr>
        <p:spPr>
          <a:xfrm>
            <a:off x="1097280" y="2560320"/>
            <a:ext cx="13670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Google Slides</a:t>
            </a:r>
            <a:endParaRPr lang="en-US" sz="1400" dirty="0"/>
          </a:p>
        </p:txBody>
      </p:sp>
      <p:sp>
        <p:nvSpPr>
          <p:cNvPr id="10" name="chip-113"/>
          <p:cNvSpPr/>
          <p:nvPr/>
        </p:nvSpPr>
        <p:spPr>
          <a:xfrm>
            <a:off x="2683764" y="2560320"/>
            <a:ext cx="15316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11" name="verificado-114" descr="Verifica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068" y="2670048"/>
            <a:ext cx="219456" cy="219456"/>
          </a:xfrm>
          <a:prstGeom prst="rect">
            <a:avLst/>
          </a:prstGeom>
        </p:spPr>
      </p:pic>
      <p:sp>
        <p:nvSpPr>
          <p:cNvPr id="12" name="chip-texto-115"/>
          <p:cNvSpPr txBox="1"/>
          <p:nvPr/>
        </p:nvSpPr>
        <p:spPr>
          <a:xfrm>
            <a:off x="3140964" y="2560320"/>
            <a:ext cx="9829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reveal.js</a:t>
            </a:r>
            <a:endParaRPr lang="en-US" sz="1400" dirty="0"/>
          </a:p>
        </p:txBody>
      </p:sp>
      <p:sp>
        <p:nvSpPr>
          <p:cNvPr id="13" name="chip-116"/>
          <p:cNvSpPr/>
          <p:nvPr/>
        </p:nvSpPr>
        <p:spPr>
          <a:xfrm>
            <a:off x="640080" y="3127248"/>
            <a:ext cx="247802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4" name="chip-texto-117"/>
          <p:cNvSpPr txBox="1"/>
          <p:nvPr/>
        </p:nvSpPr>
        <p:spPr>
          <a:xfrm>
            <a:off x="822960" y="3127248"/>
            <a:ext cx="2203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PowerPoint para la web</a:t>
            </a:r>
            <a:endParaRPr lang="en-US" sz="1400" dirty="0"/>
          </a:p>
        </p:txBody>
      </p:sp>
      <p:sp>
        <p:nvSpPr>
          <p:cNvPr id="15" name="chip-118"/>
          <p:cNvSpPr/>
          <p:nvPr/>
        </p:nvSpPr>
        <p:spPr>
          <a:xfrm>
            <a:off x="3246120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chip-texto-119"/>
          <p:cNvSpPr txBox="1"/>
          <p:nvPr/>
        </p:nvSpPr>
        <p:spPr>
          <a:xfrm>
            <a:off x="3429000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Canva</a:t>
            </a:r>
            <a:endParaRPr lang="en-US" sz="1400" dirty="0"/>
          </a:p>
        </p:txBody>
      </p:sp>
      <p:sp>
        <p:nvSpPr>
          <p:cNvPr id="17" name="chip-120"/>
          <p:cNvSpPr/>
          <p:nvPr/>
        </p:nvSpPr>
        <p:spPr>
          <a:xfrm>
            <a:off x="4219956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8" name="chip-texto-121"/>
          <p:cNvSpPr txBox="1"/>
          <p:nvPr/>
        </p:nvSpPr>
        <p:spPr>
          <a:xfrm>
            <a:off x="4402836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Pitch</a:t>
            </a:r>
            <a:endParaRPr lang="en-US" sz="1400" dirty="0"/>
          </a:p>
        </p:txBody>
      </p:sp>
      <p:sp>
        <p:nvSpPr>
          <p:cNvPr id="19" name="chip-122"/>
          <p:cNvSpPr/>
          <p:nvPr/>
        </p:nvSpPr>
        <p:spPr>
          <a:xfrm>
            <a:off x="640080" y="3694176"/>
            <a:ext cx="151790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0" name="chip-texto-123"/>
          <p:cNvSpPr txBox="1"/>
          <p:nvPr/>
        </p:nvSpPr>
        <p:spPr>
          <a:xfrm>
            <a:off x="822960" y="3694176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Figma Slides</a:t>
            </a:r>
            <a:endParaRPr lang="en-US" sz="1400" dirty="0"/>
          </a:p>
        </p:txBody>
      </p:sp>
      <p:sp>
        <p:nvSpPr>
          <p:cNvPr id="21" name="chip-124"/>
          <p:cNvSpPr/>
          <p:nvPr/>
        </p:nvSpPr>
        <p:spPr>
          <a:xfrm>
            <a:off x="2286000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2" name="chip-texto-125"/>
          <p:cNvSpPr txBox="1"/>
          <p:nvPr/>
        </p:nvSpPr>
        <p:spPr>
          <a:xfrm>
            <a:off x="2468880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Gamma</a:t>
            </a:r>
            <a:endParaRPr lang="en-US" sz="1400" dirty="0"/>
          </a:p>
        </p:txBody>
      </p:sp>
      <p:sp>
        <p:nvSpPr>
          <p:cNvPr id="23" name="chip-126"/>
          <p:cNvSpPr/>
          <p:nvPr/>
        </p:nvSpPr>
        <p:spPr>
          <a:xfrm>
            <a:off x="3259836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4" name="chip-texto-127"/>
          <p:cNvSpPr txBox="1"/>
          <p:nvPr/>
        </p:nvSpPr>
        <p:spPr>
          <a:xfrm>
            <a:off x="3442716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Prezi</a:t>
            </a:r>
            <a:endParaRPr lang="en-US" sz="1400" dirty="0"/>
          </a:p>
        </p:txBody>
      </p:sp>
      <p:sp>
        <p:nvSpPr>
          <p:cNvPr id="25" name="chip-128"/>
          <p:cNvSpPr/>
          <p:nvPr/>
        </p:nvSpPr>
        <p:spPr>
          <a:xfrm>
            <a:off x="4233672" y="3694176"/>
            <a:ext cx="199796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6" name="chip-texto-129"/>
          <p:cNvSpPr txBox="1"/>
          <p:nvPr/>
        </p:nvSpPr>
        <p:spPr>
          <a:xfrm>
            <a:off x="4416552" y="3694176"/>
            <a:ext cx="17236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Keynote en iCloud</a:t>
            </a:r>
            <a:endParaRPr lang="en-US" sz="1400" dirty="0"/>
          </a:p>
        </p:txBody>
      </p:sp>
      <p:sp>
        <p:nvSpPr>
          <p:cNvPr id="27" name="chip-130"/>
          <p:cNvSpPr/>
          <p:nvPr/>
        </p:nvSpPr>
        <p:spPr>
          <a:xfrm>
            <a:off x="640080" y="4261104"/>
            <a:ext cx="1133856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8" name="chip-texto-131"/>
          <p:cNvSpPr txBox="1"/>
          <p:nvPr/>
        </p:nvSpPr>
        <p:spPr>
          <a:xfrm>
            <a:off x="822960" y="4261104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Genially</a:t>
            </a:r>
            <a:endParaRPr lang="en-US" sz="1400" dirty="0"/>
          </a:p>
        </p:txBody>
      </p:sp>
      <p:pic>
        <p:nvPicPr>
          <p:cNvPr id="29" name="leyenda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5776"/>
            <a:ext cx="219456" cy="219456"/>
          </a:xfrm>
          <a:prstGeom prst="rect">
            <a:avLst/>
          </a:prstGeom>
        </p:spPr>
      </p:pic>
      <p:sp>
        <p:nvSpPr>
          <p:cNvPr id="30" name="leyenda"/>
          <p:cNvSpPr txBox="1"/>
          <p:nvPr/>
        </p:nvSpPr>
        <p:spPr>
          <a:xfrm>
            <a:off x="960120" y="50383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Verificado con presentaciones reales. Además, cualquier página que avance con el teclado.</a:t>
            </a:r>
            <a:endParaRPr lang="en-US" sz="1400" dirty="0"/>
          </a:p>
        </p:txBody>
      </p:sp>
      <p:sp>
        <p:nvSpPr>
          <p:cNvPr id="31" name="tarjeta-132"/>
          <p:cNvSpPr/>
          <p:nvPr/>
        </p:nvSpPr>
        <p:spPr>
          <a:xfrm>
            <a:off x="7086600" y="1783080"/>
            <a:ext cx="4465015" cy="4251960"/>
          </a:xfrm>
          <a:prstGeom prst="roundRect">
            <a:avLst>
              <a:gd name="adj" fmla="val 3441"/>
            </a:avLst>
          </a:prstGeom>
          <a:solidFill>
            <a:schemeClr val="bg2"/>
          </a:solidFill>
          <a:ln/>
        </p:spPr>
      </p:sp>
      <p:sp>
        <p:nvSpPr>
          <p:cNvPr id="32" name="dispositivos"/>
          <p:cNvSpPr txBox="1"/>
          <p:nvPr/>
        </p:nvSpPr>
        <p:spPr>
          <a:xfrm>
            <a:off x="7406640" y="2011680"/>
            <a:ext cx="3824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Dispositivos</a:t>
            </a:r>
            <a:endParaRPr lang="en-US" sz="1800" dirty="0"/>
          </a:p>
        </p:txBody>
      </p:sp>
      <p:sp>
        <p:nvSpPr>
          <p:cNvPr id="33" name="icono-fondo-133"/>
          <p:cNvSpPr/>
          <p:nvPr/>
        </p:nvSpPr>
        <p:spPr>
          <a:xfrm>
            <a:off x="7406640" y="265176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4" name="icono-LuSmartphone-13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341" y="2772461"/>
            <a:ext cx="261518" cy="261518"/>
          </a:xfrm>
          <a:prstGeom prst="rect">
            <a:avLst/>
          </a:prstGeom>
        </p:spPr>
      </p:pic>
      <p:sp>
        <p:nvSpPr>
          <p:cNvPr id="35" name="texto-135"/>
          <p:cNvSpPr txBox="1"/>
          <p:nvPr/>
        </p:nvSpPr>
        <p:spPr>
          <a:xfrm>
            <a:off x="8092440" y="262432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Celulares iPhone y Android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Desde pantallas de 320 px, en vertical u horizontal.</a:t>
            </a:r>
            <a:endParaRPr lang="en-US" sz="1600" dirty="0"/>
          </a:p>
        </p:txBody>
      </p:sp>
      <p:sp>
        <p:nvSpPr>
          <p:cNvPr id="36" name="icono-fondo-136"/>
          <p:cNvSpPr/>
          <p:nvPr/>
        </p:nvSpPr>
        <p:spPr>
          <a:xfrm>
            <a:off x="7406640" y="374904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7" name="icono-LuMonitorSmartphone-13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341" y="3869741"/>
            <a:ext cx="261518" cy="261518"/>
          </a:xfrm>
          <a:prstGeom prst="rect">
            <a:avLst/>
          </a:prstGeom>
        </p:spPr>
      </p:pic>
      <p:sp>
        <p:nvSpPr>
          <p:cNvPr id="38" name="texto-138"/>
          <p:cNvSpPr txBox="1"/>
          <p:nvPr/>
        </p:nvSpPr>
        <p:spPr>
          <a:xfrm>
            <a:off x="8092440" y="372160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Tablets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iPad y Android, con la interfaz centrada.</a:t>
            </a:r>
            <a:endParaRPr lang="en-US" sz="1600" dirty="0"/>
          </a:p>
        </p:txBody>
      </p:sp>
      <p:sp>
        <p:nvSpPr>
          <p:cNvPr id="39" name="icono-fondo-139"/>
          <p:cNvSpPr/>
          <p:nvPr/>
        </p:nvSpPr>
        <p:spPr>
          <a:xfrm>
            <a:off x="7406640" y="484632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40" name="icono-LuLaptop-14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7341" y="4967021"/>
            <a:ext cx="261518" cy="261518"/>
          </a:xfrm>
          <a:prstGeom prst="rect">
            <a:avLst/>
          </a:prstGeom>
        </p:spPr>
      </p:pic>
      <p:sp>
        <p:nvSpPr>
          <p:cNvPr id="41" name="texto-141"/>
          <p:cNvSpPr txBox="1"/>
          <p:nvPr/>
        </p:nvSpPr>
        <p:spPr>
          <a:xfrm>
            <a:off x="8092440" y="481888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Computadora con Google Chrome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Versión 116 o superior en Windows, Mac, Linux y ChromeOS.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FUNCIONA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Conexión directa entre tu celular y tu computadora</a:t>
            </a:r>
            <a:endParaRPr lang="en-US" sz="3600" dirty="0"/>
          </a:p>
        </p:txBody>
      </p:sp>
      <p:sp>
        <p:nvSpPr>
          <p:cNvPr id="4" name="tarjeta-142"/>
          <p:cNvSpPr/>
          <p:nvPr/>
        </p:nvSpPr>
        <p:spPr>
          <a:xfrm>
            <a:off x="4541368" y="1783080"/>
            <a:ext cx="3108960" cy="960120"/>
          </a:xfrm>
          <a:prstGeom prst="roundRect">
            <a:avLst>
              <a:gd name="adj" fmla="val 15238"/>
            </a:avLst>
          </a:prstGeom>
          <a:solidFill>
            <a:schemeClr val="bg2"/>
          </a:solidFill>
          <a:ln/>
        </p:spPr>
      </p:sp>
      <p:sp>
        <p:nvSpPr>
          <p:cNvPr id="5" name="icono-fondo-143"/>
          <p:cNvSpPr/>
          <p:nvPr/>
        </p:nvSpPr>
        <p:spPr>
          <a:xfrm>
            <a:off x="4769968" y="2002536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6"/>
          </a:solidFill>
          <a:ln/>
        </p:spPr>
      </p:sp>
      <p:pic>
        <p:nvPicPr>
          <p:cNvPr id="6" name="icono-LuServer-14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0668" y="2123237"/>
            <a:ext cx="261518" cy="261518"/>
          </a:xfrm>
          <a:prstGeom prst="rect">
            <a:avLst/>
          </a:prstGeom>
        </p:spPr>
      </p:pic>
      <p:sp>
        <p:nvSpPr>
          <p:cNvPr id="7" name="texto-145"/>
          <p:cNvSpPr txBox="1"/>
          <p:nvPr/>
        </p:nvSpPr>
        <p:spPr>
          <a:xfrm>
            <a:off x="5410048" y="19385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Servidor de señalización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Solo para el enlace inicial</a:t>
            </a:r>
            <a:endParaRPr lang="en-US" sz="1500" dirty="0"/>
          </a:p>
        </p:txBody>
      </p:sp>
      <p:sp>
        <p:nvSpPr>
          <p:cNvPr id="8" name="senal-izq"/>
          <p:cNvSpPr/>
          <p:nvPr/>
        </p:nvSpPr>
        <p:spPr>
          <a:xfrm>
            <a:off x="3474720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9" name="senal-izq-v"/>
          <p:cNvSpPr/>
          <p:nvPr/>
        </p:nvSpPr>
        <p:spPr>
          <a:xfrm>
            <a:off x="3474720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0" name="senal-der"/>
          <p:cNvSpPr/>
          <p:nvPr/>
        </p:nvSpPr>
        <p:spPr>
          <a:xfrm>
            <a:off x="7650328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1" name="senal-der-v"/>
          <p:cNvSpPr/>
          <p:nvPr/>
        </p:nvSpPr>
        <p:spPr>
          <a:xfrm>
            <a:off x="8716975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2" name="tarjeta-146"/>
          <p:cNvSpPr/>
          <p:nvPr/>
        </p:nvSpPr>
        <p:spPr>
          <a:xfrm>
            <a:off x="822960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3" name="icono-fondo-147"/>
          <p:cNvSpPr/>
          <p:nvPr/>
        </p:nvSpPr>
        <p:spPr>
          <a:xfrm>
            <a:off x="1097280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Smartphone-1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343" y="3382183"/>
            <a:ext cx="294803" cy="294803"/>
          </a:xfrm>
          <a:prstGeom prst="rect">
            <a:avLst/>
          </a:prstGeom>
        </p:spPr>
      </p:pic>
      <p:sp>
        <p:nvSpPr>
          <p:cNvPr id="15" name="texto-149"/>
          <p:cNvSpPr txBox="1"/>
          <p:nvPr/>
        </p:nvSpPr>
        <p:spPr>
          <a:xfrm>
            <a:off x="1828800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 web en el navegador, sin instalar apps.</a:t>
            </a:r>
            <a:endParaRPr lang="en-US" sz="1700" dirty="0"/>
          </a:p>
        </p:txBody>
      </p:sp>
      <p:sp>
        <p:nvSpPr>
          <p:cNvPr id="16" name="tarjeta-150"/>
          <p:cNvSpPr/>
          <p:nvPr/>
        </p:nvSpPr>
        <p:spPr>
          <a:xfrm>
            <a:off x="8351215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7" name="icono-fondo-151"/>
          <p:cNvSpPr/>
          <p:nvPr/>
        </p:nvSpPr>
        <p:spPr>
          <a:xfrm>
            <a:off x="8625535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Laptop-15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598" y="3382183"/>
            <a:ext cx="294803" cy="294803"/>
          </a:xfrm>
          <a:prstGeom prst="rect">
            <a:avLst/>
          </a:prstGeom>
        </p:spPr>
      </p:pic>
      <p:sp>
        <p:nvSpPr>
          <p:cNvPr id="19" name="texto-153"/>
          <p:cNvSpPr txBox="1"/>
          <p:nvPr/>
        </p:nvSpPr>
        <p:spPr>
          <a:xfrm>
            <a:off x="9357055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Computadora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Google Chrome con la extensión Mando.</a:t>
            </a:r>
            <a:endParaRPr lang="en-US" sz="1700" dirty="0"/>
          </a:p>
        </p:txBody>
      </p:sp>
      <p:sp>
        <p:nvSpPr>
          <p:cNvPr id="20" name="enlace-directo"/>
          <p:cNvSpPr/>
          <p:nvPr/>
        </p:nvSpPr>
        <p:spPr>
          <a:xfrm>
            <a:off x="3977640" y="3771900"/>
            <a:ext cx="4236415" cy="0"/>
          </a:xfrm>
          <a:prstGeom prst="line">
            <a:avLst/>
          </a:prstGeom>
          <a:noFill/>
          <a:ln w="38100">
            <a:solidFill>
              <a:srgbClr val="FF3B30"/>
            </a:solidFill>
            <a:prstDash val="solid"/>
            <a:headEnd type="triangle"/>
            <a:tailEnd type="triangle"/>
          </a:ln>
        </p:spPr>
      </p:sp>
      <p:sp>
        <p:nvSpPr>
          <p:cNvPr id="21" name="enlace-texto"/>
          <p:cNvSpPr txBox="1"/>
          <p:nvPr/>
        </p:nvSpPr>
        <p:spPr>
          <a:xfrm>
            <a:off x="4114800" y="3881628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WebRTC cifrado de punto a punto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Avanzar, láser, mouse y texto</a:t>
            </a:r>
            <a:endParaRPr lang="en-US" sz="1500" dirty="0"/>
          </a:p>
        </p:txBody>
      </p:sp>
      <p:sp>
        <p:nvSpPr>
          <p:cNvPr id="22" name="paso-154"/>
          <p:cNvSpPr/>
          <p:nvPr/>
        </p:nvSpPr>
        <p:spPr>
          <a:xfrm>
            <a:off x="64008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paso-n-155"/>
          <p:cNvSpPr txBox="1"/>
          <p:nvPr/>
        </p:nvSpPr>
        <p:spPr>
          <a:xfrm>
            <a:off x="64008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paso-texto-156"/>
          <p:cNvSpPr txBox="1"/>
          <p:nvPr/>
        </p:nvSpPr>
        <p:spPr>
          <a:xfrm>
            <a:off x="118872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QR lleva un identificador y una clave secreta.</a:t>
            </a:r>
            <a:endParaRPr lang="en-US" sz="1400" dirty="0"/>
          </a:p>
        </p:txBody>
      </p:sp>
      <p:sp>
        <p:nvSpPr>
          <p:cNvPr id="25" name="paso-157"/>
          <p:cNvSpPr/>
          <p:nvPr/>
        </p:nvSpPr>
        <p:spPr>
          <a:xfrm>
            <a:off x="438089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paso-n-158"/>
          <p:cNvSpPr txBox="1"/>
          <p:nvPr/>
        </p:nvSpPr>
        <p:spPr>
          <a:xfrm>
            <a:off x="438089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7" name="paso-texto-159"/>
          <p:cNvSpPr txBox="1"/>
          <p:nvPr/>
        </p:nvSpPr>
        <p:spPr>
          <a:xfrm>
            <a:off x="492953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servidor presenta a los dos dispositivos.</a:t>
            </a:r>
            <a:endParaRPr lang="en-US" sz="1400" dirty="0"/>
          </a:p>
        </p:txBody>
      </p:sp>
      <p:sp>
        <p:nvSpPr>
          <p:cNvPr id="28" name="paso-160"/>
          <p:cNvSpPr/>
          <p:nvPr/>
        </p:nvSpPr>
        <p:spPr>
          <a:xfrm>
            <a:off x="8121701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paso-n-161"/>
          <p:cNvSpPr txBox="1"/>
          <p:nvPr/>
        </p:nvSpPr>
        <p:spPr>
          <a:xfrm>
            <a:off x="8121701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0" name="paso-texto-162"/>
          <p:cNvSpPr txBox="1"/>
          <p:nvPr/>
        </p:nvSpPr>
        <p:spPr>
          <a:xfrm>
            <a:off x="8670341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comandos viajan directo y cifrados.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SEGURIDAD Y PRIVACIDAD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Tus presentaciones siguen siendo tuyas</a:t>
            </a:r>
            <a:endParaRPr lang="en-US" sz="3600" dirty="0"/>
          </a:p>
        </p:txBody>
      </p:sp>
      <p:sp>
        <p:nvSpPr>
          <p:cNvPr id="4" name="icono-fondo-163"/>
          <p:cNvSpPr/>
          <p:nvPr/>
        </p:nvSpPr>
        <p:spPr>
          <a:xfrm>
            <a:off x="640080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5" name="icono-LuLock-1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964863"/>
            <a:ext cx="294803" cy="294803"/>
          </a:xfrm>
          <a:prstGeom prst="rect">
            <a:avLst/>
          </a:prstGeom>
        </p:spPr>
      </p:pic>
      <p:sp>
        <p:nvSpPr>
          <p:cNvPr id="6" name="texto-165"/>
          <p:cNvSpPr txBox="1"/>
          <p:nvPr/>
        </p:nvSpPr>
        <p:spPr>
          <a:xfrm>
            <a:off x="1463040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Cifrado de extremo a extremo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Los comandos viajan cifrados directamente entre tus dispositivos.</a:t>
            </a:r>
            <a:endParaRPr lang="en-US" sz="1700" dirty="0"/>
          </a:p>
        </p:txBody>
      </p:sp>
      <p:sp>
        <p:nvSpPr>
          <p:cNvPr id="7" name="icono-fondo-166"/>
          <p:cNvSpPr/>
          <p:nvPr/>
        </p:nvSpPr>
        <p:spPr>
          <a:xfrm>
            <a:off x="6370168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8" name="icono-LuPower-1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230" y="1964863"/>
            <a:ext cx="294803" cy="294803"/>
          </a:xfrm>
          <a:prstGeom prst="rect">
            <a:avLst/>
          </a:prstGeom>
        </p:spPr>
      </p:pic>
      <p:sp>
        <p:nvSpPr>
          <p:cNvPr id="9" name="texto-168"/>
          <p:cNvSpPr txBox="1"/>
          <p:nvPr/>
        </p:nvSpPr>
        <p:spPr>
          <a:xfrm>
            <a:off x="7193128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Activo solo durante la sesión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Los scripts de Mando se retiran de Chrome al detener la sesión.</a:t>
            </a:r>
            <a:endParaRPr lang="en-US" sz="1700" dirty="0"/>
          </a:p>
        </p:txBody>
      </p:sp>
      <p:sp>
        <p:nvSpPr>
          <p:cNvPr id="10" name="icono-fondo-169"/>
          <p:cNvSpPr/>
          <p:nvPr/>
        </p:nvSpPr>
        <p:spPr>
          <a:xfrm>
            <a:off x="640080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1" name="icono-LuKeyRound-17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336463"/>
            <a:ext cx="294803" cy="294803"/>
          </a:xfrm>
          <a:prstGeom prst="rect">
            <a:avLst/>
          </a:prstGeom>
        </p:spPr>
      </p:pic>
      <p:sp>
        <p:nvSpPr>
          <p:cNvPr id="12" name="texto-171"/>
          <p:cNvSpPr txBox="1"/>
          <p:nvPr/>
        </p:nvSpPr>
        <p:spPr>
          <a:xfrm>
            <a:off x="1463040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La clave nunca sale del QR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Va en una parte de la dirección que el navegador no envía.</a:t>
            </a:r>
            <a:endParaRPr lang="en-US" sz="1700" dirty="0"/>
          </a:p>
        </p:txBody>
      </p:sp>
      <p:sp>
        <p:nvSpPr>
          <p:cNvPr id="13" name="icono-fondo-172"/>
          <p:cNvSpPr/>
          <p:nvPr/>
        </p:nvSpPr>
        <p:spPr>
          <a:xfrm>
            <a:off x="6370168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4" name="icono-LuEyeOff-17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230" y="3336463"/>
            <a:ext cx="294803" cy="294803"/>
          </a:xfrm>
          <a:prstGeom prst="rect">
            <a:avLst/>
          </a:prstGeom>
        </p:spPr>
      </p:pic>
      <p:sp>
        <p:nvSpPr>
          <p:cNvPr id="15" name="texto-174"/>
          <p:cNvSpPr txBox="1"/>
          <p:nvPr/>
        </p:nvSpPr>
        <p:spPr>
          <a:xfrm>
            <a:off x="7193128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Sin cuentas ni datos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 hay registro, anuncios, analítica ni base de datos.</a:t>
            </a:r>
            <a:endParaRPr lang="en-US" sz="1700" dirty="0"/>
          </a:p>
        </p:txBody>
      </p:sp>
      <p:sp>
        <p:nvSpPr>
          <p:cNvPr id="16" name="icono-fondo-175"/>
          <p:cNvSpPr/>
          <p:nvPr/>
        </p:nvSpPr>
        <p:spPr>
          <a:xfrm>
            <a:off x="640080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7" name="icono-LuRefreshCw-1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708063"/>
            <a:ext cx="294803" cy="294803"/>
          </a:xfrm>
          <a:prstGeom prst="rect">
            <a:avLst/>
          </a:prstGeom>
        </p:spPr>
      </p:pic>
      <p:sp>
        <p:nvSpPr>
          <p:cNvPr id="18" name="texto-177"/>
          <p:cNvSpPr txBox="1"/>
          <p:nvPr/>
        </p:nvSpPr>
        <p:spPr>
          <a:xfrm>
            <a:off x="1463040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renovable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«Nuevo código» invalida el QR anterior y desconecta a todos.</a:t>
            </a:r>
            <a:endParaRPr lang="en-US" sz="1700" dirty="0"/>
          </a:p>
        </p:txBody>
      </p:sp>
      <p:sp>
        <p:nvSpPr>
          <p:cNvPr id="19" name="icono-fondo-178"/>
          <p:cNvSpPr/>
          <p:nvPr/>
        </p:nvSpPr>
        <p:spPr>
          <a:xfrm>
            <a:off x="6370168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20" name="icono-LuGithub-17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6230" y="4708063"/>
            <a:ext cx="294803" cy="294803"/>
          </a:xfrm>
          <a:prstGeom prst="rect">
            <a:avLst/>
          </a:prstGeom>
        </p:spPr>
      </p:pic>
      <p:sp>
        <p:nvSpPr>
          <p:cNvPr id="21" name="texto-180"/>
          <p:cNvSpPr txBox="1"/>
          <p:nvPr/>
        </p:nvSpPr>
        <p:spPr>
          <a:xfrm>
            <a:off x="7193128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público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Todo el código está publicado en GitHub para revisarlo.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Probado de principio a fin</a:t>
            </a:r>
            <a:endParaRPr lang="en-US" sz="3600" dirty="0"/>
          </a:p>
        </p:txBody>
      </p:sp>
      <p:sp>
        <p:nvSpPr>
          <p:cNvPr id="4" name="cifra-181"/>
          <p:cNvSpPr txBox="1"/>
          <p:nvPr/>
        </p:nvSpPr>
        <p:spPr>
          <a:xfrm>
            <a:off x="640080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38/38</a:t>
            </a:r>
            <a:endParaRPr lang="en-US" sz="5400" dirty="0"/>
          </a:p>
        </p:txBody>
      </p:sp>
      <p:sp>
        <p:nvSpPr>
          <p:cNvPr id="5" name="texto-182"/>
          <p:cNvSpPr txBox="1"/>
          <p:nvPr/>
        </p:nvSpPr>
        <p:spPr>
          <a:xfrm>
            <a:off x="640080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Pruebas automáticas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Extensión y celular conectados de verdad.</a:t>
            </a:r>
            <a:endParaRPr lang="en-US" sz="1700" dirty="0"/>
          </a:p>
        </p:txBody>
      </p:sp>
      <p:sp>
        <p:nvSpPr>
          <p:cNvPr id="6" name="cifra-183"/>
          <p:cNvSpPr txBox="1"/>
          <p:nvPr/>
        </p:nvSpPr>
        <p:spPr>
          <a:xfrm>
            <a:off x="3436544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28/28</a:t>
            </a:r>
            <a:endParaRPr lang="en-US" sz="5400" dirty="0"/>
          </a:p>
        </p:txBody>
      </p:sp>
      <p:sp>
        <p:nvSpPr>
          <p:cNvPr id="7" name="texto-184"/>
          <p:cNvSpPr txBox="1"/>
          <p:nvPr/>
        </p:nvSpPr>
        <p:spPr>
          <a:xfrm>
            <a:off x="3436544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Pantallas y vistas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Del celular más pequeño a la tablet, sin errores.</a:t>
            </a:r>
            <a:endParaRPr lang="en-US" sz="1700" dirty="0"/>
          </a:p>
        </p:txBody>
      </p:sp>
      <p:sp>
        <p:nvSpPr>
          <p:cNvPr id="8" name="cifra-185"/>
          <p:cNvSpPr txBox="1"/>
          <p:nvPr/>
        </p:nvSpPr>
        <p:spPr>
          <a:xfrm>
            <a:off x="6233008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 s</a:t>
            </a:r>
            <a:endParaRPr lang="en-US" sz="5400" dirty="0"/>
          </a:p>
        </p:txBody>
      </p:sp>
      <p:sp>
        <p:nvSpPr>
          <p:cNvPr id="9" name="texto-186"/>
          <p:cNvSpPr txBox="1"/>
          <p:nvPr/>
        </p:nvSpPr>
        <p:spPr>
          <a:xfrm>
            <a:off x="6233008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Reconexión automática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 se corta el servidor, sin soltar al celular.</a:t>
            </a:r>
            <a:endParaRPr lang="en-US" sz="1700" dirty="0"/>
          </a:p>
        </p:txBody>
      </p:sp>
      <p:sp>
        <p:nvSpPr>
          <p:cNvPr id="10" name="cifra-187"/>
          <p:cNvSpPr txBox="1"/>
          <p:nvPr/>
        </p:nvSpPr>
        <p:spPr>
          <a:xfrm>
            <a:off x="9029471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KB</a:t>
            </a:r>
            <a:endParaRPr lang="en-US" sz="5400" dirty="0"/>
          </a:p>
        </p:txBody>
      </p:sp>
      <p:sp>
        <p:nvSpPr>
          <p:cNvPr id="11" name="texto-188"/>
          <p:cNvSpPr txBox="1"/>
          <p:nvPr/>
        </p:nvSpPr>
        <p:spPr>
          <a:xfrm>
            <a:off x="9029471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Extensión liviana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Todo el código incluido, sin descargas externas.</a:t>
            </a:r>
            <a:endParaRPr lang="en-US" sz="1700" dirty="0"/>
          </a:p>
        </p:txBody>
      </p:sp>
      <p:sp>
        <p:nvSpPr>
          <p:cNvPr id="12" name="tarjeta-189"/>
          <p:cNvSpPr/>
          <p:nvPr/>
        </p:nvSpPr>
        <p:spPr>
          <a:xfrm>
            <a:off x="640080" y="4434840"/>
            <a:ext cx="10911535" cy="14630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check-1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754880"/>
            <a:ext cx="347472" cy="347472"/>
          </a:xfrm>
          <a:prstGeom prst="rect">
            <a:avLst/>
          </a:prstGeom>
        </p:spPr>
      </p:pic>
      <p:sp>
        <p:nvSpPr>
          <p:cNvPr id="14" name="texto-191"/>
          <p:cNvSpPr txBox="1"/>
          <p:nvPr/>
        </p:nvSpPr>
        <p:spPr>
          <a:xfrm>
            <a:off x="1508760" y="4690872"/>
            <a:ext cx="449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Verificado con Google Slides y reveal.js reales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Iniciar la presentación, avanzar, retroceder y salir.</a:t>
            </a:r>
            <a:endParaRPr lang="en-US" sz="1600" dirty="0"/>
          </a:p>
        </p:txBody>
      </p:sp>
      <p:pic>
        <p:nvPicPr>
          <p:cNvPr id="15" name="check-1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88" y="4754880"/>
            <a:ext cx="347472" cy="347472"/>
          </a:xfrm>
          <a:prstGeom prst="rect">
            <a:avLst/>
          </a:prstGeom>
        </p:spPr>
      </p:pic>
      <p:sp>
        <p:nvSpPr>
          <p:cNvPr id="16" name="texto-193"/>
          <p:cNvSpPr txBox="1"/>
          <p:nvPr/>
        </p:nvSpPr>
        <p:spPr>
          <a:xfrm>
            <a:off x="6964528" y="4690872"/>
            <a:ext cx="449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Código QR fácil de escanear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Se lee correctamente incluso reducido al 30 % de su tamaño.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HOJA DE RUTA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Límites actuales y próximos pasos</a:t>
            </a:r>
            <a:endParaRPr lang="en-US" sz="3600" dirty="0"/>
          </a:p>
        </p:txBody>
      </p:sp>
      <p:sp>
        <p:nvSpPr>
          <p:cNvPr id="4" name="tarjeta-194"/>
          <p:cNvSpPr/>
          <p:nvPr/>
        </p:nvSpPr>
        <p:spPr>
          <a:xfrm>
            <a:off x="640080" y="1783080"/>
            <a:ext cx="5300320" cy="429768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5" name="icono-fondo-195"/>
          <p:cNvSpPr/>
          <p:nvPr/>
        </p:nvSpPr>
        <p:spPr>
          <a:xfrm>
            <a:off x="960120" y="20116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6"/>
          </a:solidFill>
          <a:ln/>
        </p:spPr>
      </p:sp>
      <p:pic>
        <p:nvPicPr>
          <p:cNvPr id="6" name="icono-LuTriangleAlert-1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32381"/>
            <a:ext cx="261518" cy="261518"/>
          </a:xfrm>
          <a:prstGeom prst="rect">
            <a:avLst/>
          </a:prstGeom>
        </p:spPr>
      </p:pic>
      <p:sp>
        <p:nvSpPr>
          <p:cNvPr id="7" name="limites"/>
          <p:cNvSpPr txBox="1"/>
          <p:nvPr/>
        </p:nvSpPr>
        <p:spPr>
          <a:xfrm>
            <a:off x="1645920" y="2011680"/>
            <a:ext cx="402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Límites actuales</a:t>
            </a:r>
            <a:endParaRPr lang="en-US" sz="1800" dirty="0"/>
          </a:p>
        </p:txBody>
      </p:sp>
      <p:sp>
        <p:nvSpPr>
          <p:cNvPr id="8" name="punto-197"/>
          <p:cNvSpPr/>
          <p:nvPr/>
        </p:nvSpPr>
        <p:spPr>
          <a:xfrm>
            <a:off x="1024128" y="2880360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9" name="texto-198"/>
          <p:cNvSpPr txBox="1"/>
          <p:nvPr/>
        </p:nvSpPr>
        <p:spPr>
          <a:xfrm>
            <a:off x="1371600" y="2788920"/>
            <a:ext cx="424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Redes muy restrictivas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Algunas redes de empresa o Wi-Fi públicos bloquean la conexión directa.</a:t>
            </a:r>
            <a:endParaRPr lang="en-US" sz="1600" dirty="0"/>
          </a:p>
        </p:txBody>
      </p:sp>
      <p:sp>
        <p:nvSpPr>
          <p:cNvPr id="10" name="punto-199"/>
          <p:cNvSpPr/>
          <p:nvPr/>
        </p:nvSpPr>
        <p:spPr>
          <a:xfrm>
            <a:off x="1024128" y="3959352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texto-200"/>
          <p:cNvSpPr txBox="1"/>
          <p:nvPr/>
        </p:nvSpPr>
        <p:spPr>
          <a:xfrm>
            <a:off x="1371600" y="3867912"/>
            <a:ext cx="424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Páginas protegidas de Chrome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funciona en chrome://, la Chrome Web Store ni el visor de PDF integrado.</a:t>
            </a:r>
            <a:endParaRPr lang="en-US" sz="1600" dirty="0"/>
          </a:p>
        </p:txBody>
      </p:sp>
      <p:sp>
        <p:nvSpPr>
          <p:cNvPr id="12" name="punto-201"/>
          <p:cNvSpPr/>
          <p:nvPr/>
        </p:nvSpPr>
        <p:spPr>
          <a:xfrm>
            <a:off x="1024128" y="5038344"/>
            <a:ext cx="128016" cy="1280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texto-202"/>
          <p:cNvSpPr txBox="1"/>
          <p:nvPr/>
        </p:nvSpPr>
        <p:spPr>
          <a:xfrm>
            <a:off x="1371600" y="4946904"/>
            <a:ext cx="424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Fuera del navegador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controla PowerPoint o Keynote de escritorio ni relojes inteligentes.</a:t>
            </a:r>
            <a:endParaRPr lang="en-US" sz="1600" dirty="0"/>
          </a:p>
        </p:txBody>
      </p:sp>
      <p:sp>
        <p:nvSpPr>
          <p:cNvPr id="14" name="proximos"/>
          <p:cNvSpPr txBox="1"/>
          <p:nvPr/>
        </p:nvSpPr>
        <p:spPr>
          <a:xfrm>
            <a:off x="6251296" y="2011680"/>
            <a:ext cx="530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Próximos pasos</a:t>
            </a:r>
            <a:endParaRPr lang="en-US" sz="1800" dirty="0"/>
          </a:p>
        </p:txBody>
      </p:sp>
      <p:sp>
        <p:nvSpPr>
          <p:cNvPr id="15" name="icono-fondo-203"/>
          <p:cNvSpPr/>
          <p:nvPr/>
        </p:nvSpPr>
        <p:spPr>
          <a:xfrm>
            <a:off x="6251296" y="274320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6" name="icono-LuRocket-2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996" y="2863901"/>
            <a:ext cx="261518" cy="261518"/>
          </a:xfrm>
          <a:prstGeom prst="rect">
            <a:avLst/>
          </a:prstGeom>
        </p:spPr>
      </p:pic>
      <p:sp>
        <p:nvSpPr>
          <p:cNvPr id="17" name="texto-205"/>
          <p:cNvSpPr txBox="1"/>
          <p:nvPr/>
        </p:nvSpPr>
        <p:spPr>
          <a:xfrm>
            <a:off x="6982816" y="2706624"/>
            <a:ext cx="456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Publicar en la Chrome Web Store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Verificar el correo de contacto y enviar a revisión.</a:t>
            </a:r>
            <a:endParaRPr lang="en-US" sz="1600" dirty="0"/>
          </a:p>
        </p:txBody>
      </p:sp>
      <p:sp>
        <p:nvSpPr>
          <p:cNvPr id="18" name="icono-fondo-206"/>
          <p:cNvSpPr/>
          <p:nvPr/>
        </p:nvSpPr>
        <p:spPr>
          <a:xfrm>
            <a:off x="6251296" y="3584448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9" name="icono-LuCloud-20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996" y="3705149"/>
            <a:ext cx="261518" cy="261518"/>
          </a:xfrm>
          <a:prstGeom prst="rect">
            <a:avLst/>
          </a:prstGeom>
        </p:spPr>
      </p:pic>
      <p:sp>
        <p:nvSpPr>
          <p:cNvPr id="20" name="texto-208"/>
          <p:cNvSpPr txBox="1"/>
          <p:nvPr/>
        </p:nvSpPr>
        <p:spPr>
          <a:xfrm>
            <a:off x="6982816" y="3547872"/>
            <a:ext cx="456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Retransmisión con Cloudflare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Para redes restrictivas; gratis hasta 1.000 GB al mes.</a:t>
            </a:r>
            <a:endParaRPr lang="en-US" sz="1600" dirty="0"/>
          </a:p>
        </p:txBody>
      </p:sp>
      <p:sp>
        <p:nvSpPr>
          <p:cNvPr id="21" name="icono-fondo-209"/>
          <p:cNvSpPr/>
          <p:nvPr/>
        </p:nvSpPr>
        <p:spPr>
          <a:xfrm>
            <a:off x="6251296" y="4425696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2" name="icono-LuQrCode-2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996" y="4546397"/>
            <a:ext cx="261518" cy="261518"/>
          </a:xfrm>
          <a:prstGeom prst="rect">
            <a:avLst/>
          </a:prstGeom>
        </p:spPr>
      </p:pic>
      <p:sp>
        <p:nvSpPr>
          <p:cNvPr id="23" name="texto-211"/>
          <p:cNvSpPr txBox="1"/>
          <p:nvPr/>
        </p:nvSpPr>
        <p:spPr>
          <a:xfrm>
            <a:off x="6982816" y="4389120"/>
            <a:ext cx="456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QR nuevo en cada sesión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Una opción en Ajustes para más seguridad.</a:t>
            </a:r>
            <a:endParaRPr lang="en-US" sz="1600" dirty="0"/>
          </a:p>
        </p:txBody>
      </p:sp>
      <p:sp>
        <p:nvSpPr>
          <p:cNvPr id="24" name="icono-fondo-212"/>
          <p:cNvSpPr/>
          <p:nvPr/>
        </p:nvSpPr>
        <p:spPr>
          <a:xfrm>
            <a:off x="6251296" y="5266944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5" name="icono-LuWatch-2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996" y="5387645"/>
            <a:ext cx="261518" cy="261518"/>
          </a:xfrm>
          <a:prstGeom prst="rect">
            <a:avLst/>
          </a:prstGeom>
        </p:spPr>
      </p:pic>
      <p:sp>
        <p:nvSpPr>
          <p:cNvPr id="26" name="texto-214"/>
          <p:cNvSpPr txBox="1"/>
          <p:nvPr/>
        </p:nvSpPr>
        <p:spPr>
          <a:xfrm>
            <a:off x="6982816" y="5230368"/>
            <a:ext cx="456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 para Apple Watch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Evaluar una app nativa que use el iPhone como puente.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cierre" descr="Logo de M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434" y="6858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Presenta con libertad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Escanea, conecta y presenta desde tu celular.</a:t>
            </a:r>
            <a:endParaRPr lang="en-US" sz="2000" dirty="0"/>
          </a:p>
        </p:txBody>
      </p:sp>
      <p:pic>
        <p:nvPicPr>
          <p:cNvPr id="5" name="enlace-icono-2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95928"/>
            <a:ext cx="292608" cy="292608"/>
          </a:xfrm>
          <a:prstGeom prst="rect">
            <a:avLst/>
          </a:prstGeom>
        </p:spPr>
      </p:pic>
      <p:sp>
        <p:nvSpPr>
          <p:cNvPr id="6" name="enlace-216"/>
          <p:cNvSpPr txBox="1"/>
          <p:nvPr/>
        </p:nvSpPr>
        <p:spPr>
          <a:xfrm>
            <a:off x="109728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mjmc4498.github.io/mando</a:t>
            </a:r>
            <a:endParaRPr lang="en-US" sz="1600" dirty="0"/>
          </a:p>
        </p:txBody>
      </p:sp>
      <p:pic>
        <p:nvPicPr>
          <p:cNvPr id="7" name="enlace-icono-2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62856"/>
            <a:ext cx="292608" cy="292608"/>
          </a:xfrm>
          <a:prstGeom prst="rect">
            <a:avLst/>
          </a:prstGeom>
        </p:spPr>
      </p:pic>
      <p:sp>
        <p:nvSpPr>
          <p:cNvPr id="8" name="enlace-218"/>
          <p:cNvSpPr txBox="1"/>
          <p:nvPr/>
        </p:nvSpPr>
        <p:spPr>
          <a:xfrm>
            <a:off x="1097280" y="449884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github.com/mjmc4498/mando</a:t>
            </a:r>
            <a:endParaRPr lang="en-US" sz="1600" dirty="0"/>
          </a:p>
        </p:txBody>
      </p:sp>
      <p:pic>
        <p:nvPicPr>
          <p:cNvPr id="9" name="enlace-icono-2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10" name="enlace-220"/>
          <p:cNvSpPr txBox="1"/>
          <p:nvPr/>
        </p:nvSpPr>
        <p:spPr>
          <a:xfrm>
            <a:off x="1097280" y="506577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Miguel Mogrovejo</a:t>
            </a:r>
            <a:endParaRPr lang="en-US" sz="1600" dirty="0"/>
          </a:p>
        </p:txBody>
      </p:sp>
      <p:sp>
        <p:nvSpPr>
          <p:cNvPr id="11" name="qr-tarjeta"/>
          <p:cNvSpPr/>
          <p:nvPr/>
        </p:nvSpPr>
        <p:spPr>
          <a:xfrm>
            <a:off x="8458200" y="1783080"/>
            <a:ext cx="3090672" cy="3703320"/>
          </a:xfrm>
          <a:prstGeom prst="roundRect">
            <a:avLst>
              <a:gd name="adj" fmla="val 6509"/>
            </a:avLst>
          </a:prstGeom>
          <a:solidFill>
            <a:schemeClr val="bg1"/>
          </a:solidFill>
          <a:ln/>
        </p:spPr>
      </p:sp>
      <p:pic>
        <p:nvPicPr>
          <p:cNvPr id="12" name="qr" descr="Código QR al repositorio de Mando en GitHu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16" y="2103120"/>
            <a:ext cx="2377440" cy="2377440"/>
          </a:xfrm>
          <a:prstGeom prst="rect">
            <a:avLst/>
          </a:prstGeom>
        </p:spPr>
      </p:pic>
      <p:sp>
        <p:nvSpPr>
          <p:cNvPr id="13" name="qr-texto"/>
          <p:cNvSpPr txBox="1"/>
          <p:nvPr/>
        </p:nvSpPr>
        <p:spPr>
          <a:xfrm>
            <a:off x="8641080" y="4709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Escanea para ver el proyecto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o">
  <a:themeElements>
    <a:clrScheme name="Mando">
      <a:dk1>
        <a:srgbClr val="0B0B0C"/>
      </a:dk1>
      <a:lt1>
        <a:srgbClr val="FFFFFF"/>
      </a:lt1>
      <a:dk2>
        <a:srgbClr val="1C1C1E"/>
      </a:dk2>
      <a:lt2>
        <a:srgbClr val="F5F5F7"/>
      </a:lt2>
      <a:accent1>
        <a:srgbClr val="FF3B30"/>
      </a:accent1>
      <a:accent2>
        <a:srgbClr val="34C759"/>
      </a:accent2>
      <a:accent3>
        <a:srgbClr val="0A84FF"/>
      </a:accent3>
      <a:accent4>
        <a:srgbClr val="FFD60A"/>
      </a:accent4>
      <a:accent5>
        <a:srgbClr val="8E8E93"/>
      </a:accent5>
      <a:accent6>
        <a:srgbClr val="6E6E73"/>
      </a:accent6>
      <a:hlink>
        <a:srgbClr val="0A84FF"/>
      </a:hlink>
      <a:folHlink>
        <a:srgbClr val="8E8E93"/>
      </a:folHlink>
    </a:clrScheme>
    <a:fontScheme name="Mand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Mando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Mando — Control remoto de presentaciones</dc:title>
  <dc:subject>Qué es Mando, cómo se usa y qué beneficios ofrece</dc:subject>
  <dc:creator>Miguel Mogrovejo</dc:creator>
  <cp:lastModifiedBy>Miguel Mogrovejo</cp:lastModifiedBy>
  <cp:revision>1</cp:revision>
  <dcterms:created xsi:type="dcterms:W3CDTF">2026-10-15T18:40:53Z</dcterms:created>
  <dcterms:modified xsi:type="dcterms:W3CDTF">2026-10-15T18:40:53Z</dcterms:modified>
</cp:coreProperties>
</file>